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8a45bab7-6b61-3a38-4edd-84de26809a80}">
          <p14:sldIdLst>
            <p14:sldId id="256"/>
          </p14:sldIdLst>
        </p14:section>
        <p14:section name="Why and how" id="{90d34bf7-2c82-20d1-1504-cb163b1acc15}">
          <p14:sldIdLst>
            <p14:sldId id="257"/>
            <p14:sldId id="258"/>
            <p14:sldId id="259"/>
            <p14:sldId id="260"/>
            <p14:sldId id="261"/>
            <p14:sldId id="262"/>
          </p14:sldIdLst>
        </p14:section>
        <p14:section name="Live walkthrough" id="{f023d5eb-387b-8ed4-a5e4-5eeea02a5015}">
          <p14:sldIdLst>
            <p14:sldId id="263"/>
            <p14:sldId id="264"/>
          </p14:sldIdLst>
        </p14:section>
        <p14:section name="Hands-on" id="{8b5dec97-0940-7842-4ea5-edc05937c4ec}">
          <p14:sldIdLst>
            <p14:sldId id="265"/>
            <p14:sldId id="266"/>
          </p14:sldIdLst>
        </p14:section>
        <p14:section name="Wrap-up" id="{0342916c-400f-27e0-d207-45a3fd3a4610}">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Covenant is our underwriting app. Today you'll learn to add your own screens to it by describing them to Claude, without writing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45 minutes. Most of the time is spent watching it done and then doing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build two kinds of things: a page in the left menu, or a tab that appears on every deal. We call these extensions. Show Sector exposure in the app (left menu, then Extensions): one of us built this. It reads our data and shows it differently. It can't change any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loop. The plan step is where you catch misunderstandings, so always read it. The preview is a private copy of Covenant with demo data, so you can't break anything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goes through one of two lanes. Green lane: the change only adds or edits your screen. Automatic checks run, an AI reviews it, one business approver looks at it, and it goes live by itself. Review lane: anything that touches the core (how leverage is calculated, who can do what, the data itself) goes to an engineer first. Claude will tell you when that's the case, and can write the request to the engineers for you. You don't have to work out the lane yourself; the checks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guardrails? Our numbers drive investment decisions. A screen can't break them; a calculation could. So screens are yours, and the engine stays with engineering. And nothing reaches the app without checks, an AI review, a named approver and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calls this approval page a pull request. You'll see that word there; it just means 'a change waiting for approval'. Point out each part during the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your Codespace: this is your workspace, it runs in the browser with its own copy of Covenant and demo data. Type claude and paste the one-pager prompt. Claude asks a few questions, then writes a plan (What it does / Out of scope / Open questions). Read it, then type yes. While it builds: it's only working in one folder, and it's writing a test too. When it offers a preview, say 'show me', sign in as Jordan, open Project Larch, then the Deal one-pager tab. Then type 'ship it' and open the approval page: summary, estimated cost, AI-authored record, checks, lane: green, AI review, preview button. Ask the business approver to approve on their device; once checks finish, it's merged. If the build takes over 6 minutes, switch to the pre-built branch and carry on from the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Claude, ask: 'Can you change the leverage calculation to include the revolver?' Claude explains it needs an engineer and offers an engineering request. Say 'yes, draft it' to show the draft; don't create it unless you want to. Then open the staged pull request: lane: review, and the comment 'This change edits the deal calculations... an engineer needs to review it.' Same process, different lane. Nothing reaches the app until an engineer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describe what you want; say 'show me' to preview; say 'ship it' to send it for approval; and if Claude says it needs an engineer, ask it to write the engineering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workspace, type claude, pick one idea from the starter ideas, and get to a preview. Put your hand up (or say so in chat) when you see it. Common snags: the workspace takes a few minutes to start the first time, so read the starter ideas meanwhile. If Claude asks to approve a command, it's fine to say yes for anything in the cheat sheet's list. If you see 'Blocked: outside the extensions folder', Claude tried to change the core; tell it to stay inside the extension, or ask for an engineering request. If the preview link doesn't open, open the Ports tab and click the globe next to 'Covenant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people share their screen and show their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cheat sheet and office hours. The goal is a first change sent for approval this week. Close the staged pull request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164592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
        <p:nvSpPr>
          <p:cNvPr id="3" name="Text 0"/>
          <p:cNvSpPr/>
          <p:nvPr>
            <p:ph idx="101" type="body" hasCustomPrompt="1"/>
          </p:nvPr>
        </p:nvSpPr>
        <p:spPr>
          <a:xfrm>
            <a:off x="548640" y="2606040"/>
            <a:ext cx="8046720" cy="54864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4754880"/>
            <a:ext cx="4572000" cy="274320"/>
          </a:xfrm>
          <a:prstGeom prst="rect">
            <a:avLst/>
          </a:prstGeom>
          <a:noFill/>
          <a:ln/>
        </p:spPr>
        <p:txBody>
          <a:bodyPr wrap="square" lIns="0" tIns="0" rIns="0" bIns="0" rtlCol="0" anchor="ctr"/>
          <a:lstStyle/>
          <a:p>
            <a:pPr indent="0" marL="0">
              <a:buNone/>
            </a:pPr>
            <a:r>
              <a:rPr lang="en-US" sz="900" dirty="0">
                <a:solidFill>
                  <a:schemeClr val="accent3"/>
                </a:solidFill>
              </a:rPr>
              <a:t>Build your own Covenant screens</a:t>
            </a:r>
            <a:endParaRPr lang="en-US" sz="9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1645920"/>
          </a:xfrm>
          <a:prstGeom prst="rect">
            <a:avLst/>
          </a:prstGeom>
          <a:noFill/>
          <a:ln/>
        </p:spPr>
        <p:txBody>
          <a:bodyPr wrap="square" lIns="0" tIns="0" rIns="0" bIns="0" rtlCol="0" anchor="b"/>
          <a:lstStyle/>
          <a:p>
            <a:pPr algn="l" indent="0" marL="0">
              <a:buNone/>
            </a:pPr>
            <a:r>
              <a:rPr lang="en-US" sz="4000" b="1" dirty="0">
                <a:solidFill>
                  <a:schemeClr val="bg2"/>
                </a:solidFill>
              </a:rPr>
              <a:t>Build your own Covenant screens</a:t>
            </a:r>
            <a:endParaRPr lang="en-US" sz="4000" dirty="0"/>
          </a:p>
        </p:txBody>
      </p:sp>
      <p:sp>
        <p:nvSpPr>
          <p:cNvPr id="3" name="Text 0"/>
          <p:cNvSpPr/>
          <p:nvPr>
            <p:ph idx="101" type="body" hasCustomPrompt="1"/>
          </p:nvPr>
        </p:nvSpPr>
        <p:spPr>
          <a:xfrm>
            <a:off x="548640" y="2606040"/>
            <a:ext cx="8046720" cy="548640"/>
          </a:xfrm>
          <a:prstGeom prst="rect">
            <a:avLst/>
          </a:prstGeom>
          <a:noFill/>
          <a:ln/>
        </p:spPr>
        <p:txBody>
          <a:bodyPr wrap="square" lIns="0" tIns="0" rIns="0" bIns="0" rtlCol="0" anchor="t"/>
          <a:lstStyle/>
          <a:p>
            <a:pPr algn="l" indent="0" marL="0">
              <a:buNone/>
            </a:pPr>
            <a:r>
              <a:rPr lang="en-US" sz="2000" dirty="0">
                <a:solidFill>
                  <a:schemeClr val="accent1"/>
                </a:solidFill>
              </a:rPr>
              <a:t>Describe it. Preview it. Ship it.</a:t>
            </a:r>
            <a:endParaRPr lang="en-US" sz="2000" dirty="0"/>
          </a:p>
        </p:txBody>
      </p:sp>
      <p:sp>
        <p:nvSpPr>
          <p:cNvPr id="4" name="chip Describe"/>
          <p:cNvSpPr/>
          <p:nvPr/>
        </p:nvSpPr>
        <p:spPr>
          <a:xfrm>
            <a:off x="548640" y="3383280"/>
            <a:ext cx="1417320" cy="457200"/>
          </a:xfrm>
          <a:prstGeom prst="roundRect">
            <a:avLst>
              <a:gd name="adj" fmla="val 50000"/>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13232" y="3502152"/>
            <a:ext cx="219456" cy="219456"/>
          </a:xfrm>
          <a:prstGeom prst="rect">
            <a:avLst/>
          </a:prstGeom>
        </p:spPr>
      </p:pic>
      <p:sp>
        <p:nvSpPr>
          <p:cNvPr id="6" name="Text 3"/>
          <p:cNvSpPr txBox="1"/>
          <p:nvPr/>
        </p:nvSpPr>
        <p:spPr>
          <a:xfrm>
            <a:off x="1005840" y="3383280"/>
            <a:ext cx="914400" cy="457200"/>
          </a:xfrm>
          <a:prstGeom prst="rect">
            <a:avLst/>
          </a:prstGeom>
          <a:noFill/>
          <a:ln/>
        </p:spPr>
        <p:txBody>
          <a:bodyPr wrap="square" lIns="0" tIns="0" rIns="0" bIns="0" rtlCol="0" anchor="ctr"/>
          <a:lstStyle/>
          <a:p>
            <a:pPr indent="0" marL="0">
              <a:buNone/>
            </a:pPr>
            <a:r>
              <a:rPr lang="en-US" sz="1400" dirty="0">
                <a:solidFill>
                  <a:schemeClr val="bg2"/>
                </a:solidFill>
              </a:rPr>
              <a:t>Describe</a:t>
            </a:r>
            <a:endParaRPr lang="en-US" sz="1400" dirty="0"/>
          </a:p>
        </p:txBody>
      </p:sp>
      <p:sp>
        <p:nvSpPr>
          <p:cNvPr id="7" name="chip Preview"/>
          <p:cNvSpPr/>
          <p:nvPr/>
        </p:nvSpPr>
        <p:spPr>
          <a:xfrm>
            <a:off x="2148840" y="3383280"/>
            <a:ext cx="1417320" cy="457200"/>
          </a:xfrm>
          <a:prstGeom prst="roundRect">
            <a:avLst>
              <a:gd name="adj" fmla="val 50000"/>
            </a:avLst>
          </a:prstGeom>
          <a:solidFill>
            <a:schemeClr val="tx2"/>
          </a:solidFill>
          <a:ln w="12700">
            <a:solidFill>
              <a:schemeClr val="tx2"/>
            </a:solidFill>
            <a:prstDash val="solid"/>
          </a:ln>
        </p:spPr>
      </p:sp>
      <p:pic>
        <p:nvPicPr>
          <p:cNvPr id="8" name="Image 1" descr="preencoded.png">    </p:cNvPr>
          <p:cNvPicPr>
            <a:picLocks noChangeAspect="1"/>
          </p:cNvPicPr>
          <p:nvPr/>
        </p:nvPicPr>
        <p:blipFill>
          <a:blip r:embed="rId2"/>
          <a:stretch>
            <a:fillRect/>
          </a:stretch>
        </p:blipFill>
        <p:spPr>
          <a:xfrm>
            <a:off x="2313432" y="3502152"/>
            <a:ext cx="219456" cy="219456"/>
          </a:xfrm>
          <a:prstGeom prst="rect">
            <a:avLst/>
          </a:prstGeom>
        </p:spPr>
      </p:pic>
      <p:sp>
        <p:nvSpPr>
          <p:cNvPr id="9" name="Text 5"/>
          <p:cNvSpPr txBox="1"/>
          <p:nvPr/>
        </p:nvSpPr>
        <p:spPr>
          <a:xfrm>
            <a:off x="2606040" y="3383280"/>
            <a:ext cx="914400" cy="457200"/>
          </a:xfrm>
          <a:prstGeom prst="rect">
            <a:avLst/>
          </a:prstGeom>
          <a:noFill/>
          <a:ln/>
        </p:spPr>
        <p:txBody>
          <a:bodyPr wrap="square" lIns="0" tIns="0" rIns="0" bIns="0" rtlCol="0" anchor="ctr"/>
          <a:lstStyle/>
          <a:p>
            <a:pPr indent="0" marL="0">
              <a:buNone/>
            </a:pPr>
            <a:r>
              <a:rPr lang="en-US" sz="1400" dirty="0">
                <a:solidFill>
                  <a:schemeClr val="bg2"/>
                </a:solidFill>
              </a:rPr>
              <a:t>Preview</a:t>
            </a:r>
            <a:endParaRPr lang="en-US" sz="1400" dirty="0"/>
          </a:p>
        </p:txBody>
      </p:sp>
      <p:sp>
        <p:nvSpPr>
          <p:cNvPr id="10" name="chip Ship"/>
          <p:cNvSpPr/>
          <p:nvPr/>
        </p:nvSpPr>
        <p:spPr>
          <a:xfrm>
            <a:off x="3749040" y="3383280"/>
            <a:ext cx="1417320" cy="457200"/>
          </a:xfrm>
          <a:prstGeom prst="roundRect">
            <a:avLst>
              <a:gd name="adj" fmla="val 50000"/>
            </a:avLst>
          </a:prstGeom>
          <a:solidFill>
            <a:schemeClr val="tx2"/>
          </a:solidFill>
          <a:ln w="12700">
            <a:solidFill>
              <a:schemeClr val="tx2"/>
            </a:solidFill>
            <a:prstDash val="solid"/>
          </a:ln>
        </p:spPr>
      </p:sp>
      <p:pic>
        <p:nvPicPr>
          <p:cNvPr id="11" name="Image 2" descr="preencoded.png">    </p:cNvPr>
          <p:cNvPicPr>
            <a:picLocks noChangeAspect="1"/>
          </p:cNvPicPr>
          <p:nvPr/>
        </p:nvPicPr>
        <p:blipFill>
          <a:blip r:embed="rId3"/>
          <a:stretch>
            <a:fillRect/>
          </a:stretch>
        </p:blipFill>
        <p:spPr>
          <a:xfrm>
            <a:off x="3913632" y="3502152"/>
            <a:ext cx="219456" cy="219456"/>
          </a:xfrm>
          <a:prstGeom prst="rect">
            <a:avLst/>
          </a:prstGeom>
        </p:spPr>
      </p:pic>
      <p:sp>
        <p:nvSpPr>
          <p:cNvPr id="12" name="Text 7"/>
          <p:cNvSpPr txBox="1"/>
          <p:nvPr/>
        </p:nvSpPr>
        <p:spPr>
          <a:xfrm>
            <a:off x="4206240" y="3383280"/>
            <a:ext cx="914400" cy="457200"/>
          </a:xfrm>
          <a:prstGeom prst="rect">
            <a:avLst/>
          </a:prstGeom>
          <a:noFill/>
          <a:ln/>
        </p:spPr>
        <p:txBody>
          <a:bodyPr wrap="square" lIns="0" tIns="0" rIns="0" bIns="0" rtlCol="0" anchor="ctr"/>
          <a:lstStyle/>
          <a:p>
            <a:pPr indent="0" marL="0">
              <a:buNone/>
            </a:pPr>
            <a:r>
              <a:rPr lang="en-US" sz="1400" dirty="0">
                <a:solidFill>
                  <a:schemeClr val="bg2"/>
                </a:solidFill>
              </a:rPr>
              <a:t>Ship</a:t>
            </a:r>
            <a:endParaRPr lang="en-US" sz="1400" dirty="0"/>
          </a:p>
        </p:txBody>
      </p:sp>
      <p:sp>
        <p:nvSpPr>
          <p:cNvPr id="13" name="Text 8"/>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200" dirty="0">
                <a:solidFill>
                  <a:schemeClr val="accent3"/>
                </a:solidFill>
              </a:rPr>
              <a:t>Fernhill Credit Partners  ·  45-minute training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Today</a:t>
            </a:r>
            <a:endParaRPr lang="en-US" sz="3000" dirty="0"/>
          </a:p>
        </p:txBody>
      </p:sp>
      <p:sp>
        <p:nvSpPr>
          <p:cNvPr id="3" name="time Why and how"/>
          <p:cNvSpPr/>
          <p:nvPr/>
        </p:nvSpPr>
        <p:spPr>
          <a:xfrm>
            <a:off x="548640" y="1325880"/>
            <a:ext cx="1751584" cy="146304"/>
          </a:xfrm>
          <a:prstGeom prst="rect">
            <a:avLst/>
          </a:prstGeom>
          <a:solidFill>
            <a:schemeClr val="accent5"/>
          </a:solidFill>
          <a:ln w="12700">
            <a:solidFill>
              <a:schemeClr val="accent5"/>
            </a:solidFill>
            <a:prstDash val="solid"/>
          </a:ln>
        </p:spPr>
      </p:sp>
      <p:sp>
        <p:nvSpPr>
          <p:cNvPr id="4" name="time Live walkthrough"/>
          <p:cNvSpPr/>
          <p:nvPr/>
        </p:nvSpPr>
        <p:spPr>
          <a:xfrm>
            <a:off x="2336800" y="1325880"/>
            <a:ext cx="2645664" cy="146304"/>
          </a:xfrm>
          <a:prstGeom prst="rect">
            <a:avLst/>
          </a:prstGeom>
          <a:solidFill>
            <a:schemeClr val="accent1"/>
          </a:solidFill>
          <a:ln w="12700">
            <a:solidFill>
              <a:schemeClr val="accent1"/>
            </a:solidFill>
            <a:prstDash val="solid"/>
          </a:ln>
        </p:spPr>
      </p:sp>
      <p:sp>
        <p:nvSpPr>
          <p:cNvPr id="5" name="time Hands-on"/>
          <p:cNvSpPr/>
          <p:nvPr/>
        </p:nvSpPr>
        <p:spPr>
          <a:xfrm>
            <a:off x="5019040" y="1325880"/>
            <a:ext cx="2645664" cy="146304"/>
          </a:xfrm>
          <a:prstGeom prst="rect">
            <a:avLst/>
          </a:prstGeom>
          <a:solidFill>
            <a:schemeClr val="accent5"/>
          </a:solidFill>
          <a:ln w="12700">
            <a:solidFill>
              <a:schemeClr val="accent5"/>
            </a:solidFill>
            <a:prstDash val="solid"/>
          </a:ln>
        </p:spPr>
      </p:sp>
      <p:sp>
        <p:nvSpPr>
          <p:cNvPr id="6" name="time Wrap-up"/>
          <p:cNvSpPr/>
          <p:nvPr/>
        </p:nvSpPr>
        <p:spPr>
          <a:xfrm>
            <a:off x="7701280" y="1325880"/>
            <a:ext cx="857504" cy="146304"/>
          </a:xfrm>
          <a:prstGeom prst="rect">
            <a:avLst/>
          </a:prstGeom>
          <a:solidFill>
            <a:schemeClr val="accent5"/>
          </a:solidFill>
          <a:ln w="12700">
            <a:solidFill>
              <a:schemeClr val="accent5"/>
            </a:solidFill>
            <a:prstDash val="solid"/>
          </a:ln>
        </p:spPr>
      </p:sp>
      <p:sp>
        <p:nvSpPr>
          <p:cNvPr id="7" name="agenda Why and how"/>
          <p:cNvSpPr/>
          <p:nvPr/>
        </p:nvSpPr>
        <p:spPr>
          <a:xfrm>
            <a:off x="548640" y="1783080"/>
            <a:ext cx="1874520" cy="26060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777240" y="2011680"/>
            <a:ext cx="914400" cy="685800"/>
          </a:xfrm>
          <a:prstGeom prst="rect">
            <a:avLst/>
          </a:prstGeom>
          <a:noFill/>
          <a:ln/>
        </p:spPr>
        <p:txBody>
          <a:bodyPr wrap="square" lIns="0" tIns="0" rIns="0" bIns="0" rtlCol="0" anchor="t"/>
          <a:lstStyle/>
          <a:p>
            <a:pPr indent="0" marL="0">
              <a:buNone/>
            </a:pPr>
            <a:r>
              <a:rPr lang="en-US" sz="4000" b="1" dirty="0">
                <a:solidFill>
                  <a:schemeClr val="tx1"/>
                </a:solidFill>
                <a:latin typeface="Georgia" pitchFamily="34" charset="0"/>
                <a:ea typeface="Georgia" pitchFamily="34" charset="-122"/>
                <a:cs typeface="Georgia" pitchFamily="34" charset="-120"/>
              </a:rPr>
              <a:t>10</a:t>
            </a:r>
            <a:endParaRPr lang="en-US" sz="4000" dirty="0"/>
          </a:p>
        </p:txBody>
      </p:sp>
      <p:sp>
        <p:nvSpPr>
          <p:cNvPr id="9" name="Text 7"/>
          <p:cNvSpPr txBox="1"/>
          <p:nvPr/>
        </p:nvSpPr>
        <p:spPr>
          <a:xfrm>
            <a:off x="777240" y="2679192"/>
            <a:ext cx="914400" cy="274320"/>
          </a:xfrm>
          <a:prstGeom prst="rect">
            <a:avLst/>
          </a:prstGeom>
          <a:noFill/>
          <a:ln/>
        </p:spPr>
        <p:txBody>
          <a:bodyPr wrap="square" lIns="0" tIns="0" rIns="0" bIns="0" rtlCol="0" anchor="t"/>
          <a:lstStyle/>
          <a:p>
            <a:pPr indent="0" marL="0">
              <a:buNone/>
            </a:pPr>
            <a:r>
              <a:rPr lang="en-US" sz="1200" dirty="0">
                <a:solidFill>
                  <a:schemeClr val="accent3"/>
                </a:solidFill>
              </a:rPr>
              <a:t>min</a:t>
            </a:r>
            <a:endParaRPr lang="en-US" sz="1200" dirty="0"/>
          </a:p>
        </p:txBody>
      </p:sp>
      <p:sp>
        <p:nvSpPr>
          <p:cNvPr id="10" name="Text 8"/>
          <p:cNvSpPr txBox="1"/>
          <p:nvPr/>
        </p:nvSpPr>
        <p:spPr>
          <a:xfrm>
            <a:off x="777240" y="3063240"/>
            <a:ext cx="1463040" cy="365760"/>
          </a:xfrm>
          <a:prstGeom prst="rect">
            <a:avLst/>
          </a:prstGeom>
          <a:noFill/>
          <a:ln/>
        </p:spPr>
        <p:txBody>
          <a:bodyPr wrap="square" lIns="0" tIns="0" rIns="0" bIns="0" rtlCol="0" anchor="t"/>
          <a:lstStyle/>
          <a:p>
            <a:pPr indent="0" marL="0">
              <a:buNone/>
            </a:pPr>
            <a:r>
              <a:rPr lang="en-US" sz="1600" b="1" dirty="0">
                <a:solidFill>
                  <a:schemeClr val="tx1"/>
                </a:solidFill>
              </a:rPr>
              <a:t>Why and how</a:t>
            </a:r>
            <a:endParaRPr lang="en-US" sz="1600" dirty="0"/>
          </a:p>
        </p:txBody>
      </p:sp>
      <p:sp>
        <p:nvSpPr>
          <p:cNvPr id="11" name="Text 9"/>
          <p:cNvSpPr txBox="1"/>
          <p:nvPr/>
        </p:nvSpPr>
        <p:spPr>
          <a:xfrm>
            <a:off x="777240" y="3429000"/>
            <a:ext cx="1463040" cy="822960"/>
          </a:xfrm>
          <a:prstGeom prst="rect">
            <a:avLst/>
          </a:prstGeom>
          <a:noFill/>
          <a:ln/>
        </p:spPr>
        <p:txBody>
          <a:bodyPr wrap="square" lIns="0" tIns="0" rIns="0" bIns="0" rtlCol="0" anchor="t"/>
          <a:lstStyle/>
          <a:p>
            <a:pPr indent="0" marL="0">
              <a:buNone/>
            </a:pPr>
            <a:r>
              <a:rPr lang="en-US" sz="1200" dirty="0">
                <a:solidFill>
                  <a:schemeClr val="tx2"/>
                </a:solidFill>
              </a:rPr>
              <a:t>What you can build, the two lanes, why the guardrails exist</a:t>
            </a:r>
            <a:endParaRPr lang="en-US" sz="1200" dirty="0"/>
          </a:p>
        </p:txBody>
      </p:sp>
      <p:sp>
        <p:nvSpPr>
          <p:cNvPr id="12" name="agenda Live walkthrough"/>
          <p:cNvSpPr/>
          <p:nvPr/>
        </p:nvSpPr>
        <p:spPr>
          <a:xfrm>
            <a:off x="2606040" y="1783080"/>
            <a:ext cx="1874520" cy="26060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2834640" y="2011680"/>
            <a:ext cx="914400" cy="68580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15</a:t>
            </a:r>
            <a:endParaRPr lang="en-US" sz="4000" dirty="0"/>
          </a:p>
        </p:txBody>
      </p:sp>
      <p:sp>
        <p:nvSpPr>
          <p:cNvPr id="14" name="Text 12"/>
          <p:cNvSpPr txBox="1"/>
          <p:nvPr/>
        </p:nvSpPr>
        <p:spPr>
          <a:xfrm>
            <a:off x="2834640" y="2679192"/>
            <a:ext cx="914400" cy="274320"/>
          </a:xfrm>
          <a:prstGeom prst="rect">
            <a:avLst/>
          </a:prstGeom>
          <a:noFill/>
          <a:ln/>
        </p:spPr>
        <p:txBody>
          <a:bodyPr wrap="square" lIns="0" tIns="0" rIns="0" bIns="0" rtlCol="0" anchor="t"/>
          <a:lstStyle/>
          <a:p>
            <a:pPr indent="0" marL="0">
              <a:buNone/>
            </a:pPr>
            <a:r>
              <a:rPr lang="en-US" sz="1200" dirty="0">
                <a:solidFill>
                  <a:schemeClr val="accent3"/>
                </a:solidFill>
              </a:rPr>
              <a:t>min</a:t>
            </a:r>
            <a:endParaRPr lang="en-US" sz="1200" dirty="0"/>
          </a:p>
        </p:txBody>
      </p:sp>
      <p:sp>
        <p:nvSpPr>
          <p:cNvPr id="15" name="Text 13"/>
          <p:cNvSpPr txBox="1"/>
          <p:nvPr/>
        </p:nvSpPr>
        <p:spPr>
          <a:xfrm>
            <a:off x="2834640" y="3063240"/>
            <a:ext cx="1463040" cy="365760"/>
          </a:xfrm>
          <a:prstGeom prst="rect">
            <a:avLst/>
          </a:prstGeom>
          <a:noFill/>
          <a:ln/>
        </p:spPr>
        <p:txBody>
          <a:bodyPr wrap="square" lIns="0" tIns="0" rIns="0" bIns="0" rtlCol="0" anchor="t"/>
          <a:lstStyle/>
          <a:p>
            <a:pPr indent="0" marL="0">
              <a:buNone/>
            </a:pPr>
            <a:r>
              <a:rPr lang="en-US" sz="1600" b="1" dirty="0">
                <a:solidFill>
                  <a:schemeClr val="tx1"/>
                </a:solidFill>
              </a:rPr>
              <a:t>Live walkthrough</a:t>
            </a:r>
            <a:endParaRPr lang="en-US" sz="1600" dirty="0"/>
          </a:p>
        </p:txBody>
      </p:sp>
      <p:sp>
        <p:nvSpPr>
          <p:cNvPr id="16" name="Text 14"/>
          <p:cNvSpPr txBox="1"/>
          <p:nvPr/>
        </p:nvSpPr>
        <p:spPr>
          <a:xfrm>
            <a:off x="2834640" y="3429000"/>
            <a:ext cx="1463040" cy="822960"/>
          </a:xfrm>
          <a:prstGeom prst="rect">
            <a:avLst/>
          </a:prstGeom>
          <a:noFill/>
          <a:ln/>
        </p:spPr>
        <p:txBody>
          <a:bodyPr wrap="square" lIns="0" tIns="0" rIns="0" bIns="0" rtlCol="0" anchor="t"/>
          <a:lstStyle/>
          <a:p>
            <a:pPr indent="0" marL="0">
              <a:buNone/>
            </a:pPr>
            <a:r>
              <a:rPr lang="en-US" sz="1200" dirty="0">
                <a:solidFill>
                  <a:schemeClr val="tx2"/>
                </a:solidFill>
              </a:rPr>
              <a:t>A Deal one-pager, from idea to approval</a:t>
            </a:r>
            <a:endParaRPr lang="en-US" sz="1200" dirty="0"/>
          </a:p>
        </p:txBody>
      </p:sp>
      <p:sp>
        <p:nvSpPr>
          <p:cNvPr id="17" name="agenda Hands-on"/>
          <p:cNvSpPr/>
          <p:nvPr/>
        </p:nvSpPr>
        <p:spPr>
          <a:xfrm>
            <a:off x="4663440" y="1783080"/>
            <a:ext cx="1874520" cy="26060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8" name="Text 16"/>
          <p:cNvSpPr txBox="1"/>
          <p:nvPr/>
        </p:nvSpPr>
        <p:spPr>
          <a:xfrm>
            <a:off x="4892040" y="2011680"/>
            <a:ext cx="914400" cy="685800"/>
          </a:xfrm>
          <a:prstGeom prst="rect">
            <a:avLst/>
          </a:prstGeom>
          <a:noFill/>
          <a:ln/>
        </p:spPr>
        <p:txBody>
          <a:bodyPr wrap="square" lIns="0" tIns="0" rIns="0" bIns="0" rtlCol="0" anchor="t"/>
          <a:lstStyle/>
          <a:p>
            <a:pPr indent="0" marL="0">
              <a:buNone/>
            </a:pPr>
            <a:r>
              <a:rPr lang="en-US" sz="4000" b="1" dirty="0">
                <a:solidFill>
                  <a:schemeClr val="tx1"/>
                </a:solidFill>
                <a:latin typeface="Georgia" pitchFamily="34" charset="0"/>
                <a:ea typeface="Georgia" pitchFamily="34" charset="-122"/>
                <a:cs typeface="Georgia" pitchFamily="34" charset="-120"/>
              </a:rPr>
              <a:t>15</a:t>
            </a:r>
            <a:endParaRPr lang="en-US" sz="4000" dirty="0"/>
          </a:p>
        </p:txBody>
      </p:sp>
      <p:sp>
        <p:nvSpPr>
          <p:cNvPr id="19" name="Text 17"/>
          <p:cNvSpPr txBox="1"/>
          <p:nvPr/>
        </p:nvSpPr>
        <p:spPr>
          <a:xfrm>
            <a:off x="4892040" y="2679192"/>
            <a:ext cx="914400" cy="274320"/>
          </a:xfrm>
          <a:prstGeom prst="rect">
            <a:avLst/>
          </a:prstGeom>
          <a:noFill/>
          <a:ln/>
        </p:spPr>
        <p:txBody>
          <a:bodyPr wrap="square" lIns="0" tIns="0" rIns="0" bIns="0" rtlCol="0" anchor="t"/>
          <a:lstStyle/>
          <a:p>
            <a:pPr indent="0" marL="0">
              <a:buNone/>
            </a:pPr>
            <a:r>
              <a:rPr lang="en-US" sz="1200" dirty="0">
                <a:solidFill>
                  <a:schemeClr val="accent3"/>
                </a:solidFill>
              </a:rPr>
              <a:t>min</a:t>
            </a:r>
            <a:endParaRPr lang="en-US" sz="1200" dirty="0"/>
          </a:p>
        </p:txBody>
      </p:sp>
      <p:sp>
        <p:nvSpPr>
          <p:cNvPr id="20" name="Text 18"/>
          <p:cNvSpPr txBox="1"/>
          <p:nvPr/>
        </p:nvSpPr>
        <p:spPr>
          <a:xfrm>
            <a:off x="4892040" y="3063240"/>
            <a:ext cx="1463040" cy="365760"/>
          </a:xfrm>
          <a:prstGeom prst="rect">
            <a:avLst/>
          </a:prstGeom>
          <a:noFill/>
          <a:ln/>
        </p:spPr>
        <p:txBody>
          <a:bodyPr wrap="square" lIns="0" tIns="0" rIns="0" bIns="0" rtlCol="0" anchor="t"/>
          <a:lstStyle/>
          <a:p>
            <a:pPr indent="0" marL="0">
              <a:buNone/>
            </a:pPr>
            <a:r>
              <a:rPr lang="en-US" sz="1600" b="1" dirty="0">
                <a:solidFill>
                  <a:schemeClr val="tx1"/>
                </a:solidFill>
              </a:rPr>
              <a:t>Hands-on</a:t>
            </a:r>
            <a:endParaRPr lang="en-US" sz="1600" dirty="0"/>
          </a:p>
        </p:txBody>
      </p:sp>
      <p:sp>
        <p:nvSpPr>
          <p:cNvPr id="21" name="Text 19"/>
          <p:cNvSpPr txBox="1"/>
          <p:nvPr/>
        </p:nvSpPr>
        <p:spPr>
          <a:xfrm>
            <a:off x="4892040" y="3429000"/>
            <a:ext cx="1463040" cy="822960"/>
          </a:xfrm>
          <a:prstGeom prst="rect">
            <a:avLst/>
          </a:prstGeom>
          <a:noFill/>
          <a:ln/>
        </p:spPr>
        <p:txBody>
          <a:bodyPr wrap="square" lIns="0" tIns="0" rIns="0" bIns="0" rtlCol="0" anchor="t"/>
          <a:lstStyle/>
          <a:p>
            <a:pPr indent="0" marL="0">
              <a:buNone/>
            </a:pPr>
            <a:r>
              <a:rPr lang="en-US" sz="1200" dirty="0">
                <a:solidFill>
                  <a:schemeClr val="tx2"/>
                </a:solidFill>
              </a:rPr>
              <a:t>You build one from a starter idea</a:t>
            </a:r>
            <a:endParaRPr lang="en-US" sz="1200" dirty="0"/>
          </a:p>
        </p:txBody>
      </p:sp>
      <p:sp>
        <p:nvSpPr>
          <p:cNvPr id="22" name="agenda Wrap-up"/>
          <p:cNvSpPr/>
          <p:nvPr/>
        </p:nvSpPr>
        <p:spPr>
          <a:xfrm>
            <a:off x="6720840" y="1783080"/>
            <a:ext cx="1874520" cy="26060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23" name="Text 21"/>
          <p:cNvSpPr txBox="1"/>
          <p:nvPr/>
        </p:nvSpPr>
        <p:spPr>
          <a:xfrm>
            <a:off x="6949440" y="2011680"/>
            <a:ext cx="914400" cy="685800"/>
          </a:xfrm>
          <a:prstGeom prst="rect">
            <a:avLst/>
          </a:prstGeom>
          <a:noFill/>
          <a:ln/>
        </p:spPr>
        <p:txBody>
          <a:bodyPr wrap="square" lIns="0" tIns="0" rIns="0" bIns="0" rtlCol="0" anchor="t"/>
          <a:lstStyle/>
          <a:p>
            <a:pPr indent="0" marL="0">
              <a:buNone/>
            </a:pPr>
            <a:r>
              <a:rPr lang="en-US" sz="4000" b="1" dirty="0">
                <a:solidFill>
                  <a:schemeClr val="tx1"/>
                </a:solidFill>
                <a:latin typeface="Georgia" pitchFamily="34" charset="0"/>
                <a:ea typeface="Georgia" pitchFamily="34" charset="-122"/>
                <a:cs typeface="Georgia" pitchFamily="34" charset="-120"/>
              </a:rPr>
              <a:t>5</a:t>
            </a:r>
            <a:endParaRPr lang="en-US" sz="4000" dirty="0"/>
          </a:p>
        </p:txBody>
      </p:sp>
      <p:sp>
        <p:nvSpPr>
          <p:cNvPr id="24" name="Text 22"/>
          <p:cNvSpPr txBox="1"/>
          <p:nvPr/>
        </p:nvSpPr>
        <p:spPr>
          <a:xfrm>
            <a:off x="6949440" y="2679192"/>
            <a:ext cx="914400" cy="274320"/>
          </a:xfrm>
          <a:prstGeom prst="rect">
            <a:avLst/>
          </a:prstGeom>
          <a:noFill/>
          <a:ln/>
        </p:spPr>
        <p:txBody>
          <a:bodyPr wrap="square" lIns="0" tIns="0" rIns="0" bIns="0" rtlCol="0" anchor="t"/>
          <a:lstStyle/>
          <a:p>
            <a:pPr indent="0" marL="0">
              <a:buNone/>
            </a:pPr>
            <a:r>
              <a:rPr lang="en-US" sz="1200" dirty="0">
                <a:solidFill>
                  <a:schemeClr val="accent3"/>
                </a:solidFill>
              </a:rPr>
              <a:t>min</a:t>
            </a:r>
            <a:endParaRPr lang="en-US" sz="1200" dirty="0"/>
          </a:p>
        </p:txBody>
      </p:sp>
      <p:sp>
        <p:nvSpPr>
          <p:cNvPr id="25" name="Text 23"/>
          <p:cNvSpPr txBox="1"/>
          <p:nvPr/>
        </p:nvSpPr>
        <p:spPr>
          <a:xfrm>
            <a:off x="6949440" y="3063240"/>
            <a:ext cx="1463040" cy="365760"/>
          </a:xfrm>
          <a:prstGeom prst="rect">
            <a:avLst/>
          </a:prstGeom>
          <a:noFill/>
          <a:ln/>
        </p:spPr>
        <p:txBody>
          <a:bodyPr wrap="square" lIns="0" tIns="0" rIns="0" bIns="0" rtlCol="0" anchor="t"/>
          <a:lstStyle/>
          <a:p>
            <a:pPr indent="0" marL="0">
              <a:buNone/>
            </a:pPr>
            <a:r>
              <a:rPr lang="en-US" sz="1600" b="1" dirty="0">
                <a:solidFill>
                  <a:schemeClr val="tx1"/>
                </a:solidFill>
              </a:rPr>
              <a:t>Wrap-up</a:t>
            </a:r>
            <a:endParaRPr lang="en-US" sz="1600" dirty="0"/>
          </a:p>
        </p:txBody>
      </p:sp>
      <p:sp>
        <p:nvSpPr>
          <p:cNvPr id="26" name="Text 24"/>
          <p:cNvSpPr txBox="1"/>
          <p:nvPr/>
        </p:nvSpPr>
        <p:spPr>
          <a:xfrm>
            <a:off x="6949440" y="3429000"/>
            <a:ext cx="1463040" cy="822960"/>
          </a:xfrm>
          <a:prstGeom prst="rect">
            <a:avLst/>
          </a:prstGeom>
          <a:noFill/>
          <a:ln/>
        </p:spPr>
        <p:txBody>
          <a:bodyPr wrap="square" lIns="0" tIns="0" rIns="0" bIns="0" rtlCol="0" anchor="t"/>
          <a:lstStyle/>
          <a:p>
            <a:pPr indent="0" marL="0">
              <a:buNone/>
            </a:pPr>
            <a:r>
              <a:rPr lang="en-US" sz="1200" dirty="0">
                <a:solidFill>
                  <a:schemeClr val="tx2"/>
                </a:solidFill>
              </a:rPr>
              <a:t>Show and tell, cheat sheet, office hours</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What you can build</a:t>
            </a:r>
            <a:endParaRPr lang="en-US" sz="3000" dirty="0"/>
          </a:p>
        </p:txBody>
      </p:sp>
      <p:sp>
        <p:nvSpPr>
          <p:cNvPr id="3" name="A page in the left menu"/>
          <p:cNvSpPr/>
          <p:nvPr/>
        </p:nvSpPr>
        <p:spPr>
          <a:xfrm>
            <a:off x="548640" y="1234440"/>
            <a:ext cx="18745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4" name="A page in the left menu icon circle"/>
          <p:cNvSpPr/>
          <p:nvPr/>
        </p:nvSpPr>
        <p:spPr>
          <a:xfrm>
            <a:off x="777240" y="1463040"/>
            <a:ext cx="548640" cy="548640"/>
          </a:xfrm>
          <a:prstGeom prst="ellipse">
            <a:avLst/>
          </a:prstGeom>
          <a:solidFill>
            <a:schemeClr val="accent1"/>
          </a:solidFill>
          <a:ln w="12700">
            <a:solidFill>
              <a:schemeClr val="accent1"/>
            </a:solidFill>
            <a:prstDash val="solid"/>
          </a:ln>
        </p:spPr>
      </p:sp>
      <p:pic>
        <p:nvPicPr>
          <p:cNvPr id="5" name="A page in the left menu icon" descr="preencoded.png">    </p:cNvPr>
          <p:cNvPicPr>
            <a:picLocks noChangeAspect="1"/>
          </p:cNvPicPr>
          <p:nvPr/>
        </p:nvPicPr>
        <p:blipFill>
          <a:blip r:embed="rId1"/>
          <a:stretch>
            <a:fillRect/>
          </a:stretch>
        </p:blipFill>
        <p:spPr>
          <a:xfrm>
            <a:off x="925373" y="1611173"/>
            <a:ext cx="252374" cy="252374"/>
          </a:xfrm>
          <a:prstGeom prst="rect">
            <a:avLst/>
          </a:prstGeom>
        </p:spPr>
      </p:pic>
      <p:sp>
        <p:nvSpPr>
          <p:cNvPr id="6" name="Text 3"/>
          <p:cNvSpPr txBox="1"/>
          <p:nvPr/>
        </p:nvSpPr>
        <p:spPr>
          <a:xfrm>
            <a:off x="777240" y="2148840"/>
            <a:ext cx="1463040" cy="502920"/>
          </a:xfrm>
          <a:prstGeom prst="rect">
            <a:avLst/>
          </a:prstGeom>
          <a:noFill/>
          <a:ln/>
        </p:spPr>
        <p:txBody>
          <a:bodyPr wrap="square" lIns="0" tIns="0" rIns="0" bIns="0" rtlCol="0" anchor="t"/>
          <a:lstStyle/>
          <a:p>
            <a:pPr indent="0" marL="0">
              <a:buNone/>
            </a:pPr>
            <a:r>
              <a:rPr lang="en-US" sz="1500" b="1" dirty="0">
                <a:solidFill>
                  <a:schemeClr val="tx1"/>
                </a:solidFill>
              </a:rPr>
              <a:t>A page in the left menu</a:t>
            </a:r>
            <a:endParaRPr lang="en-US" sz="1500" dirty="0"/>
          </a:p>
        </p:txBody>
      </p:sp>
      <p:sp>
        <p:nvSpPr>
          <p:cNvPr id="7" name="Text 4"/>
          <p:cNvSpPr txBox="1"/>
          <p:nvPr/>
        </p:nvSpPr>
        <p:spPr>
          <a:xfrm>
            <a:off x="777240" y="2606040"/>
            <a:ext cx="1463040" cy="320040"/>
          </a:xfrm>
          <a:prstGeom prst="rect">
            <a:avLst/>
          </a:prstGeom>
          <a:noFill/>
          <a:ln/>
        </p:spPr>
        <p:txBody>
          <a:bodyPr wrap="square" lIns="0" tIns="0" rIns="0" bIns="0" rtlCol="0" anchor="t"/>
          <a:lstStyle/>
          <a:p>
            <a:pPr indent="0" marL="0">
              <a:buNone/>
            </a:pPr>
            <a:r>
              <a:rPr lang="en-US" sz="1200" i="1" dirty="0">
                <a:solidFill>
                  <a:schemeClr val="accent3"/>
                </a:solidFill>
              </a:rPr>
              <a:t>e.g. Sector exposure</a:t>
            </a:r>
            <a:endParaRPr lang="en-US" sz="1200" dirty="0"/>
          </a:p>
        </p:txBody>
      </p:sp>
      <p:sp>
        <p:nvSpPr>
          <p:cNvPr id="8" name="A tab on every deal"/>
          <p:cNvSpPr/>
          <p:nvPr/>
        </p:nvSpPr>
        <p:spPr>
          <a:xfrm>
            <a:off x="2606040" y="1234440"/>
            <a:ext cx="1874520" cy="1828800"/>
          </a:xfrm>
          <a:prstGeom prst="roundRect">
            <a:avLst>
              <a:gd name="adj" fmla="val 4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A tab on every deal icon circle"/>
          <p:cNvSpPr/>
          <p:nvPr/>
        </p:nvSpPr>
        <p:spPr>
          <a:xfrm>
            <a:off x="2834640" y="1463040"/>
            <a:ext cx="548640" cy="548640"/>
          </a:xfrm>
          <a:prstGeom prst="ellipse">
            <a:avLst/>
          </a:prstGeom>
          <a:solidFill>
            <a:schemeClr val="accent1"/>
          </a:solidFill>
          <a:ln w="12700">
            <a:solidFill>
              <a:schemeClr val="accent1"/>
            </a:solidFill>
            <a:prstDash val="solid"/>
          </a:ln>
        </p:spPr>
      </p:sp>
      <p:pic>
        <p:nvPicPr>
          <p:cNvPr id="10" name="A tab on every deal icon" descr="preencoded.png">    </p:cNvPr>
          <p:cNvPicPr>
            <a:picLocks noChangeAspect="1"/>
          </p:cNvPicPr>
          <p:nvPr/>
        </p:nvPicPr>
        <p:blipFill>
          <a:blip r:embed="rId2"/>
          <a:stretch>
            <a:fillRect/>
          </a:stretch>
        </p:blipFill>
        <p:spPr>
          <a:xfrm>
            <a:off x="2982773" y="1611173"/>
            <a:ext cx="252374" cy="252374"/>
          </a:xfrm>
          <a:prstGeom prst="rect">
            <a:avLst/>
          </a:prstGeom>
        </p:spPr>
      </p:pic>
      <p:sp>
        <p:nvSpPr>
          <p:cNvPr id="11" name="Text 7"/>
          <p:cNvSpPr txBox="1"/>
          <p:nvPr/>
        </p:nvSpPr>
        <p:spPr>
          <a:xfrm>
            <a:off x="2834640" y="2148840"/>
            <a:ext cx="1463040" cy="502920"/>
          </a:xfrm>
          <a:prstGeom prst="rect">
            <a:avLst/>
          </a:prstGeom>
          <a:noFill/>
          <a:ln/>
        </p:spPr>
        <p:txBody>
          <a:bodyPr wrap="square" lIns="0" tIns="0" rIns="0" bIns="0" rtlCol="0" anchor="t"/>
          <a:lstStyle/>
          <a:p>
            <a:pPr indent="0" marL="0">
              <a:buNone/>
            </a:pPr>
            <a:r>
              <a:rPr lang="en-US" sz="1500" b="1" dirty="0">
                <a:solidFill>
                  <a:schemeClr val="tx1"/>
                </a:solidFill>
              </a:rPr>
              <a:t>A tab on every deal</a:t>
            </a:r>
            <a:endParaRPr lang="en-US" sz="1500" dirty="0"/>
          </a:p>
        </p:txBody>
      </p:sp>
      <p:sp>
        <p:nvSpPr>
          <p:cNvPr id="12" name="Text 8"/>
          <p:cNvSpPr txBox="1"/>
          <p:nvPr/>
        </p:nvSpPr>
        <p:spPr>
          <a:xfrm>
            <a:off x="2834640" y="2606040"/>
            <a:ext cx="1463040" cy="320040"/>
          </a:xfrm>
          <a:prstGeom prst="rect">
            <a:avLst/>
          </a:prstGeom>
          <a:noFill/>
          <a:ln/>
        </p:spPr>
        <p:txBody>
          <a:bodyPr wrap="square" lIns="0" tIns="0" rIns="0" bIns="0" rtlCol="0" anchor="t"/>
          <a:lstStyle/>
          <a:p>
            <a:pPr indent="0" marL="0">
              <a:buNone/>
            </a:pPr>
            <a:r>
              <a:rPr lang="en-US" sz="1200" i="1" dirty="0">
                <a:solidFill>
                  <a:schemeClr val="accent3"/>
                </a:solidFill>
              </a:rPr>
              <a:t>e.g. a one-page IC summary</a:t>
            </a:r>
            <a:endParaRPr lang="en-US" sz="1200" dirty="0"/>
          </a:p>
        </p:txBody>
      </p:sp>
      <p:sp>
        <p:nvSpPr>
          <p:cNvPr id="13" name="Text 9"/>
          <p:cNvSpPr txBox="1"/>
          <p:nvPr/>
        </p:nvSpPr>
        <p:spPr>
          <a:xfrm>
            <a:off x="548640" y="3246120"/>
            <a:ext cx="3931920" cy="320040"/>
          </a:xfrm>
          <a:prstGeom prst="rect">
            <a:avLst/>
          </a:prstGeom>
          <a:noFill/>
          <a:ln/>
        </p:spPr>
        <p:txBody>
          <a:bodyPr wrap="square" lIns="0" tIns="0" rIns="0" bIns="0" rtlCol="0" anchor="t"/>
          <a:lstStyle/>
          <a:p>
            <a:pPr indent="0" marL="0">
              <a:buNone/>
            </a:pPr>
            <a:r>
              <a:rPr lang="en-US" sz="1300" i="1" dirty="0">
                <a:solidFill>
                  <a:schemeClr val="tx2"/>
                </a:solidFill>
              </a:rPr>
              <a:t>We call these extensions.</a:t>
            </a:r>
            <a:endParaRPr lang="en-US" sz="1300" dirty="0"/>
          </a:p>
        </p:txBody>
      </p:sp>
      <p:sp>
        <p:nvSpPr>
          <p:cNvPr id="14" name="can and cannot"/>
          <p:cNvSpPr/>
          <p:nvPr/>
        </p:nvSpPr>
        <p:spPr>
          <a:xfrm>
            <a:off x="4800600" y="1234440"/>
            <a:ext cx="3794760" cy="3154680"/>
          </a:xfrm>
          <a:prstGeom prst="roundRect">
            <a:avLst>
              <a:gd name="adj" fmla="val 2319"/>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5" name="Text 11"/>
          <p:cNvSpPr txBox="1"/>
          <p:nvPr/>
        </p:nvSpPr>
        <p:spPr>
          <a:xfrm>
            <a:off x="5074920" y="1417320"/>
            <a:ext cx="3200400" cy="320040"/>
          </a:xfrm>
          <a:prstGeom prst="rect">
            <a:avLst/>
          </a:prstGeom>
          <a:noFill/>
          <a:ln/>
        </p:spPr>
        <p:txBody>
          <a:bodyPr wrap="square" lIns="0" tIns="0" rIns="0" bIns="0" rtlCol="0" anchor="t"/>
          <a:lstStyle/>
          <a:p>
            <a:pPr indent="0" marL="0">
              <a:buNone/>
            </a:pPr>
            <a:r>
              <a:rPr lang="en-US" sz="1500" b="1" dirty="0">
                <a:solidFill>
                  <a:schemeClr val="accent2"/>
                </a:solidFill>
              </a:rPr>
              <a:t>They can</a:t>
            </a:r>
            <a:endParaRPr lang="en-US" sz="1500" dirty="0"/>
          </a:p>
        </p:txBody>
      </p:sp>
      <p:pic>
        <p:nvPicPr>
          <p:cNvPr id="16" name="Image 2" descr="preencoded.png">    </p:cNvPr>
          <p:cNvPicPr>
            <a:picLocks noChangeAspect="1"/>
          </p:cNvPicPr>
          <p:nvPr/>
        </p:nvPicPr>
        <p:blipFill>
          <a:blip r:embed="rId3"/>
          <a:stretch>
            <a:fillRect/>
          </a:stretch>
        </p:blipFill>
        <p:spPr>
          <a:xfrm>
            <a:off x="5074920" y="1828800"/>
            <a:ext cx="201168" cy="201168"/>
          </a:xfrm>
          <a:prstGeom prst="rect">
            <a:avLst/>
          </a:prstGeom>
        </p:spPr>
      </p:pic>
      <p:sp>
        <p:nvSpPr>
          <p:cNvPr id="17" name="Text 12"/>
          <p:cNvSpPr txBox="1"/>
          <p:nvPr/>
        </p:nvSpPr>
        <p:spPr>
          <a:xfrm>
            <a:off x="5394960" y="1801368"/>
            <a:ext cx="3017520" cy="274320"/>
          </a:xfrm>
          <a:prstGeom prst="rect">
            <a:avLst/>
          </a:prstGeom>
          <a:noFill/>
          <a:ln/>
        </p:spPr>
        <p:txBody>
          <a:bodyPr wrap="square" lIns="0" tIns="0" rIns="0" bIns="0" rtlCol="0" anchor="t"/>
          <a:lstStyle/>
          <a:p>
            <a:pPr indent="0" marL="0">
              <a:buNone/>
            </a:pPr>
            <a:r>
              <a:rPr lang="en-US" sz="1300" dirty="0">
                <a:solidFill>
                  <a:schemeClr val="tx1"/>
                </a:solidFill>
              </a:rPr>
              <a:t>Show any of the fund's data</a:t>
            </a:r>
            <a:endParaRPr lang="en-US" sz="1300" dirty="0"/>
          </a:p>
        </p:txBody>
      </p:sp>
      <p:pic>
        <p:nvPicPr>
          <p:cNvPr id="18" name="Image 3" descr="preencoded.png">    </p:cNvPr>
          <p:cNvPicPr>
            <a:picLocks noChangeAspect="1"/>
          </p:cNvPicPr>
          <p:nvPr/>
        </p:nvPicPr>
        <p:blipFill>
          <a:blip r:embed="rId4"/>
          <a:stretch>
            <a:fillRect/>
          </a:stretch>
        </p:blipFill>
        <p:spPr>
          <a:xfrm>
            <a:off x="5074920" y="2157984"/>
            <a:ext cx="201168" cy="201168"/>
          </a:xfrm>
          <a:prstGeom prst="rect">
            <a:avLst/>
          </a:prstGeom>
        </p:spPr>
      </p:pic>
      <p:sp>
        <p:nvSpPr>
          <p:cNvPr id="19" name="Text 13"/>
          <p:cNvSpPr txBox="1"/>
          <p:nvPr/>
        </p:nvSpPr>
        <p:spPr>
          <a:xfrm>
            <a:off x="5394960" y="2130552"/>
            <a:ext cx="3017520" cy="274320"/>
          </a:xfrm>
          <a:prstGeom prst="rect">
            <a:avLst/>
          </a:prstGeom>
          <a:noFill/>
          <a:ln/>
        </p:spPr>
        <p:txBody>
          <a:bodyPr wrap="square" lIns="0" tIns="0" rIns="0" bIns="0" rtlCol="0" anchor="t"/>
          <a:lstStyle/>
          <a:p>
            <a:pPr indent="0" marL="0">
              <a:buNone/>
            </a:pPr>
            <a:r>
              <a:rPr lang="en-US" sz="1300" dirty="0">
                <a:solidFill>
                  <a:schemeClr val="tx1"/>
                </a:solidFill>
              </a:rPr>
              <a:t>Add notes</a:t>
            </a:r>
            <a:endParaRPr lang="en-US" sz="1300" dirty="0"/>
          </a:p>
        </p:txBody>
      </p:sp>
      <p:pic>
        <p:nvPicPr>
          <p:cNvPr id="20" name="Image 4" descr="preencoded.png">    </p:cNvPr>
          <p:cNvPicPr>
            <a:picLocks noChangeAspect="1"/>
          </p:cNvPicPr>
          <p:nvPr/>
        </p:nvPicPr>
        <p:blipFill>
          <a:blip r:embed="rId5"/>
          <a:stretch>
            <a:fillRect/>
          </a:stretch>
        </p:blipFill>
        <p:spPr>
          <a:xfrm>
            <a:off x="5074920" y="2487168"/>
            <a:ext cx="201168" cy="201168"/>
          </a:xfrm>
          <a:prstGeom prst="rect">
            <a:avLst/>
          </a:prstGeom>
        </p:spPr>
      </p:pic>
      <p:sp>
        <p:nvSpPr>
          <p:cNvPr id="21" name="Text 14"/>
          <p:cNvSpPr txBox="1"/>
          <p:nvPr/>
        </p:nvSpPr>
        <p:spPr>
          <a:xfrm>
            <a:off x="5394960" y="2459736"/>
            <a:ext cx="3017520" cy="274320"/>
          </a:xfrm>
          <a:prstGeom prst="rect">
            <a:avLst/>
          </a:prstGeom>
          <a:noFill/>
          <a:ln/>
        </p:spPr>
        <p:txBody>
          <a:bodyPr wrap="square" lIns="0" tIns="0" rIns="0" bIns="0" rtlCol="0" anchor="t"/>
          <a:lstStyle/>
          <a:p>
            <a:pPr indent="0" marL="0">
              <a:buNone/>
            </a:pPr>
            <a:r>
              <a:rPr lang="en-US" sz="1300" dirty="0">
                <a:solidFill>
                  <a:schemeClr val="tx1"/>
                </a:solidFill>
              </a:rPr>
              <a:t>Add diligence items</a:t>
            </a:r>
            <a:endParaRPr lang="en-US" sz="1300" dirty="0"/>
          </a:p>
        </p:txBody>
      </p:sp>
      <p:sp>
        <p:nvSpPr>
          <p:cNvPr id="22" name="Text 15"/>
          <p:cNvSpPr txBox="1"/>
          <p:nvPr/>
        </p:nvSpPr>
        <p:spPr>
          <a:xfrm>
            <a:off x="5074920" y="2926080"/>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They can't change</a:t>
            </a:r>
            <a:endParaRPr lang="en-US" sz="1500" dirty="0"/>
          </a:p>
        </p:txBody>
      </p:sp>
      <p:sp>
        <p:nvSpPr>
          <p:cNvPr id="23" name="Text 16"/>
          <p:cNvSpPr txBox="1"/>
          <p:nvPr/>
        </p:nvSpPr>
        <p:spPr>
          <a:xfrm>
            <a:off x="5074920" y="3291840"/>
            <a:ext cx="3291840" cy="868680"/>
          </a:xfrm>
          <a:prstGeom prst="rect">
            <a:avLst/>
          </a:prstGeom>
          <a:noFill/>
          <a:ln/>
        </p:spPr>
        <p:txBody>
          <a:bodyPr wrap="square" lIns="0" tIns="0" rIns="0" bIns="0" rtlCol="0" anchor="t"/>
          <a:lstStyle/>
          <a:p>
            <a:pPr indent="0" marL="0">
              <a:buNone/>
            </a:pPr>
            <a:r>
              <a:rPr lang="en-US" sz="1300" dirty="0">
                <a:solidFill>
                  <a:schemeClr val="tx2"/>
                </a:solidFill>
              </a:rPr>
              <a:t>Calculations, terms, stages or permissions. That's the engine, and engineers look after it.</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How it works</a:t>
            </a:r>
            <a:endParaRPr lang="en-US" sz="3000" dirty="0"/>
          </a:p>
        </p:txBody>
      </p:sp>
      <p:sp>
        <p:nvSpPr>
          <p:cNvPr id="3" name="connector"/>
          <p:cNvSpPr/>
          <p:nvPr/>
        </p:nvSpPr>
        <p:spPr>
          <a:xfrm>
            <a:off x="1280160" y="1691640"/>
            <a:ext cx="6583680" cy="0"/>
          </a:xfrm>
          <a:prstGeom prst="line">
            <a:avLst/>
          </a:prstGeom>
          <a:noFill/>
          <a:ln w="25400">
            <a:solidFill>
              <a:schemeClr val="accent5"/>
            </a:solidFill>
            <a:prstDash val="solid"/>
          </a:ln>
        </p:spPr>
      </p:sp>
      <p:sp>
        <p:nvSpPr>
          <p:cNvPr id="4" name="Open your workspace circle"/>
          <p:cNvSpPr/>
          <p:nvPr/>
        </p:nvSpPr>
        <p:spPr>
          <a:xfrm>
            <a:off x="914400" y="1325880"/>
            <a:ext cx="731520" cy="731520"/>
          </a:xfrm>
          <a:prstGeom prst="ellipse">
            <a:avLst/>
          </a:prstGeom>
          <a:solidFill>
            <a:schemeClr val="tx1"/>
          </a:solidFill>
          <a:ln w="12700">
            <a:solidFill>
              <a:schemeClr val="tx1"/>
            </a:solidFill>
            <a:prstDash val="solid"/>
          </a:ln>
        </p:spPr>
      </p:sp>
      <p:pic>
        <p:nvPicPr>
          <p:cNvPr id="5" name="Open your workspace" descr="preencoded.png">    </p:cNvPr>
          <p:cNvPicPr>
            <a:picLocks noChangeAspect="1"/>
          </p:cNvPicPr>
          <p:nvPr/>
        </p:nvPicPr>
        <p:blipFill>
          <a:blip r:embed="rId1"/>
          <a:stretch>
            <a:fillRect/>
          </a:stretch>
        </p:blipFill>
        <p:spPr>
          <a:xfrm>
            <a:off x="1111910" y="1523390"/>
            <a:ext cx="336499" cy="336499"/>
          </a:xfrm>
          <a:prstGeom prst="rect">
            <a:avLst/>
          </a:prstGeom>
        </p:spPr>
      </p:pic>
      <p:sp>
        <p:nvSpPr>
          <p:cNvPr id="6" name="step 1"/>
          <p:cNvSpPr/>
          <p:nvPr/>
        </p:nvSpPr>
        <p:spPr>
          <a:xfrm>
            <a:off x="1463040" y="1234440"/>
            <a:ext cx="274320" cy="274320"/>
          </a:xfrm>
          <a:prstGeom prst="ellipse">
            <a:avLst/>
          </a:prstGeom>
          <a:solidFill>
            <a:schemeClr val="bg2"/>
          </a:solidFill>
          <a:ln w="12700">
            <a:solidFill>
              <a:schemeClr val="bg2"/>
            </a:solidFill>
            <a:prstDash val="solid"/>
          </a:ln>
        </p:spPr>
      </p:sp>
      <p:sp>
        <p:nvSpPr>
          <p:cNvPr id="7" name="Text 4"/>
          <p:cNvSpPr txBox="1"/>
          <p:nvPr/>
        </p:nvSpPr>
        <p:spPr>
          <a:xfrm>
            <a:off x="1463040" y="1234440"/>
            <a:ext cx="274320" cy="274320"/>
          </a:xfrm>
          <a:prstGeom prst="rect">
            <a:avLst/>
          </a:prstGeom>
          <a:noFill/>
          <a:ln/>
        </p:spPr>
        <p:txBody>
          <a:bodyPr wrap="square" lIns="0" tIns="0" rIns="0" bIns="0" rtlCol="0" anchor="ctr"/>
          <a:lstStyle/>
          <a:p>
            <a:pPr algn="ctr" indent="0" marL="0">
              <a:buNone/>
            </a:pPr>
            <a:r>
              <a:rPr lang="en-US" sz="1400" b="1" dirty="0">
                <a:solidFill>
                  <a:schemeClr val="accent1"/>
                </a:solidFill>
                <a:latin typeface="Georgia" pitchFamily="34" charset="0"/>
                <a:ea typeface="Georgia" pitchFamily="34" charset="-122"/>
                <a:cs typeface="Georgia" pitchFamily="34" charset="-120"/>
              </a:rPr>
              <a:t>1</a:t>
            </a:r>
            <a:endParaRPr lang="en-US" sz="1400" dirty="0"/>
          </a:p>
        </p:txBody>
      </p:sp>
      <p:sp>
        <p:nvSpPr>
          <p:cNvPr id="8" name="step Open your workspace"/>
          <p:cNvSpPr/>
          <p:nvPr/>
        </p:nvSpPr>
        <p:spPr>
          <a:xfrm>
            <a:off x="548640" y="2331720"/>
            <a:ext cx="1463040" cy="19659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685800" y="2487168"/>
            <a:ext cx="1188720" cy="548640"/>
          </a:xfrm>
          <a:prstGeom prst="rect">
            <a:avLst/>
          </a:prstGeom>
          <a:noFill/>
          <a:ln/>
        </p:spPr>
        <p:txBody>
          <a:bodyPr wrap="square" lIns="0" tIns="0" rIns="0" bIns="0" rtlCol="0" anchor="t"/>
          <a:lstStyle/>
          <a:p>
            <a:pPr indent="0" marL="0">
              <a:buNone/>
            </a:pPr>
            <a:r>
              <a:rPr lang="en-US" sz="1400" b="1" dirty="0">
                <a:solidFill>
                  <a:schemeClr val="tx1"/>
                </a:solidFill>
              </a:rPr>
              <a:t>Open your workspace</a:t>
            </a:r>
            <a:endParaRPr lang="en-US" sz="1400" dirty="0"/>
          </a:p>
        </p:txBody>
      </p:sp>
      <p:sp>
        <p:nvSpPr>
          <p:cNvPr id="10" name="Text 7"/>
          <p:cNvSpPr txBox="1"/>
          <p:nvPr/>
        </p:nvSpPr>
        <p:spPr>
          <a:xfrm>
            <a:off x="685800" y="3063240"/>
            <a:ext cx="1188720" cy="1097280"/>
          </a:xfrm>
          <a:prstGeom prst="rect">
            <a:avLst/>
          </a:prstGeom>
          <a:noFill/>
          <a:ln/>
        </p:spPr>
        <p:txBody>
          <a:bodyPr wrap="square" lIns="0" tIns="0" rIns="0" bIns="0" rtlCol="0" anchor="t"/>
          <a:lstStyle/>
          <a:p>
            <a:pPr indent="0" marL="0">
              <a:buNone/>
            </a:pPr>
            <a:r>
              <a:rPr lang="en-US" sz="1200" dirty="0">
                <a:solidFill>
                  <a:schemeClr val="tx2"/>
                </a:solidFill>
              </a:rPr>
              <a:t>One click. Demo data only.</a:t>
            </a:r>
            <a:endParaRPr lang="en-US" sz="1200" dirty="0"/>
          </a:p>
        </p:txBody>
      </p:sp>
      <p:sp>
        <p:nvSpPr>
          <p:cNvPr id="11" name="Describe it circle"/>
          <p:cNvSpPr/>
          <p:nvPr/>
        </p:nvSpPr>
        <p:spPr>
          <a:xfrm>
            <a:off x="2560320" y="1325880"/>
            <a:ext cx="731520" cy="731520"/>
          </a:xfrm>
          <a:prstGeom prst="ellipse">
            <a:avLst/>
          </a:prstGeom>
          <a:solidFill>
            <a:schemeClr val="tx1"/>
          </a:solidFill>
          <a:ln w="12700">
            <a:solidFill>
              <a:schemeClr val="tx1"/>
            </a:solidFill>
            <a:prstDash val="solid"/>
          </a:ln>
        </p:spPr>
      </p:sp>
      <p:pic>
        <p:nvPicPr>
          <p:cNvPr id="12" name="Describe it" descr="preencoded.png">    </p:cNvPr>
          <p:cNvPicPr>
            <a:picLocks noChangeAspect="1"/>
          </p:cNvPicPr>
          <p:nvPr/>
        </p:nvPicPr>
        <p:blipFill>
          <a:blip r:embed="rId2"/>
          <a:stretch>
            <a:fillRect/>
          </a:stretch>
        </p:blipFill>
        <p:spPr>
          <a:xfrm>
            <a:off x="2757830" y="1523390"/>
            <a:ext cx="336499" cy="336499"/>
          </a:xfrm>
          <a:prstGeom prst="rect">
            <a:avLst/>
          </a:prstGeom>
        </p:spPr>
      </p:pic>
      <p:sp>
        <p:nvSpPr>
          <p:cNvPr id="13" name="step 2"/>
          <p:cNvSpPr/>
          <p:nvPr/>
        </p:nvSpPr>
        <p:spPr>
          <a:xfrm>
            <a:off x="3108960" y="1234440"/>
            <a:ext cx="274320" cy="274320"/>
          </a:xfrm>
          <a:prstGeom prst="ellipse">
            <a:avLst/>
          </a:prstGeom>
          <a:solidFill>
            <a:schemeClr val="bg2"/>
          </a:solidFill>
          <a:ln w="12700">
            <a:solidFill>
              <a:schemeClr val="bg2"/>
            </a:solidFill>
            <a:prstDash val="solid"/>
          </a:ln>
        </p:spPr>
      </p:sp>
      <p:sp>
        <p:nvSpPr>
          <p:cNvPr id="14" name="Text 10"/>
          <p:cNvSpPr txBox="1"/>
          <p:nvPr/>
        </p:nvSpPr>
        <p:spPr>
          <a:xfrm>
            <a:off x="3108960" y="1234440"/>
            <a:ext cx="274320" cy="274320"/>
          </a:xfrm>
          <a:prstGeom prst="rect">
            <a:avLst/>
          </a:prstGeom>
          <a:noFill/>
          <a:ln/>
        </p:spPr>
        <p:txBody>
          <a:bodyPr wrap="square" lIns="0" tIns="0" rIns="0" bIns="0" rtlCol="0" anchor="ctr"/>
          <a:lstStyle/>
          <a:p>
            <a:pPr algn="ctr" indent="0" marL="0">
              <a:buNone/>
            </a:pPr>
            <a:r>
              <a:rPr lang="en-US" sz="1400" b="1" dirty="0">
                <a:solidFill>
                  <a:schemeClr val="accent1"/>
                </a:solidFill>
                <a:latin typeface="Georgia" pitchFamily="34" charset="0"/>
                <a:ea typeface="Georgia" pitchFamily="34" charset="-122"/>
                <a:cs typeface="Georgia" pitchFamily="34" charset="-120"/>
              </a:rPr>
              <a:t>2</a:t>
            </a:r>
            <a:endParaRPr lang="en-US" sz="1400" dirty="0"/>
          </a:p>
        </p:txBody>
      </p:sp>
      <p:sp>
        <p:nvSpPr>
          <p:cNvPr id="15" name="step Describe it"/>
          <p:cNvSpPr/>
          <p:nvPr/>
        </p:nvSpPr>
        <p:spPr>
          <a:xfrm>
            <a:off x="2194560" y="2331720"/>
            <a:ext cx="1463040" cy="19659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6" name="Text 12"/>
          <p:cNvSpPr txBox="1"/>
          <p:nvPr/>
        </p:nvSpPr>
        <p:spPr>
          <a:xfrm>
            <a:off x="2331720" y="2487168"/>
            <a:ext cx="1188720" cy="548640"/>
          </a:xfrm>
          <a:prstGeom prst="rect">
            <a:avLst/>
          </a:prstGeom>
          <a:noFill/>
          <a:ln/>
        </p:spPr>
        <p:txBody>
          <a:bodyPr wrap="square" lIns="0" tIns="0" rIns="0" bIns="0" rtlCol="0" anchor="t"/>
          <a:lstStyle/>
          <a:p>
            <a:pPr indent="0" marL="0">
              <a:buNone/>
            </a:pPr>
            <a:r>
              <a:rPr lang="en-US" sz="1400" b="1" dirty="0">
                <a:solidFill>
                  <a:schemeClr val="tx1"/>
                </a:solidFill>
              </a:rPr>
              <a:t>Describe it</a:t>
            </a:r>
            <a:endParaRPr lang="en-US" sz="1400" dirty="0"/>
          </a:p>
        </p:txBody>
      </p:sp>
      <p:sp>
        <p:nvSpPr>
          <p:cNvPr id="17" name="Text 13"/>
          <p:cNvSpPr txBox="1"/>
          <p:nvPr/>
        </p:nvSpPr>
        <p:spPr>
          <a:xfrm>
            <a:off x="2331720" y="3063240"/>
            <a:ext cx="1188720" cy="1097280"/>
          </a:xfrm>
          <a:prstGeom prst="rect">
            <a:avLst/>
          </a:prstGeom>
          <a:noFill/>
          <a:ln/>
        </p:spPr>
        <p:txBody>
          <a:bodyPr wrap="square" lIns="0" tIns="0" rIns="0" bIns="0" rtlCol="0" anchor="t"/>
          <a:lstStyle/>
          <a:p>
            <a:pPr indent="0" marL="0">
              <a:buNone/>
            </a:pPr>
            <a:r>
              <a:rPr lang="en-US" sz="1200" dirty="0">
                <a:solidFill>
                  <a:schemeClr val="tx2"/>
                </a:solidFill>
              </a:rPr>
              <a:t>Type claude, then say what you want.</a:t>
            </a:r>
            <a:endParaRPr lang="en-US" sz="1200" dirty="0"/>
          </a:p>
        </p:txBody>
      </p:sp>
      <p:sp>
        <p:nvSpPr>
          <p:cNvPr id="18" name="Approve the plan circle"/>
          <p:cNvSpPr/>
          <p:nvPr/>
        </p:nvSpPr>
        <p:spPr>
          <a:xfrm>
            <a:off x="4206240" y="1325880"/>
            <a:ext cx="731520" cy="731520"/>
          </a:xfrm>
          <a:prstGeom prst="ellipse">
            <a:avLst/>
          </a:prstGeom>
          <a:solidFill>
            <a:schemeClr val="tx1"/>
          </a:solidFill>
          <a:ln w="12700">
            <a:solidFill>
              <a:schemeClr val="tx1"/>
            </a:solidFill>
            <a:prstDash val="solid"/>
          </a:ln>
        </p:spPr>
      </p:sp>
      <p:pic>
        <p:nvPicPr>
          <p:cNvPr id="19" name="Approve the plan" descr="preencoded.png">    </p:cNvPr>
          <p:cNvPicPr>
            <a:picLocks noChangeAspect="1"/>
          </p:cNvPicPr>
          <p:nvPr/>
        </p:nvPicPr>
        <p:blipFill>
          <a:blip r:embed="rId3"/>
          <a:stretch>
            <a:fillRect/>
          </a:stretch>
        </p:blipFill>
        <p:spPr>
          <a:xfrm>
            <a:off x="4403750" y="1523390"/>
            <a:ext cx="336499" cy="336499"/>
          </a:xfrm>
          <a:prstGeom prst="rect">
            <a:avLst/>
          </a:prstGeom>
        </p:spPr>
      </p:pic>
      <p:sp>
        <p:nvSpPr>
          <p:cNvPr id="20" name="step 3"/>
          <p:cNvSpPr/>
          <p:nvPr/>
        </p:nvSpPr>
        <p:spPr>
          <a:xfrm>
            <a:off x="4754880" y="1234440"/>
            <a:ext cx="274320" cy="274320"/>
          </a:xfrm>
          <a:prstGeom prst="ellipse">
            <a:avLst/>
          </a:prstGeom>
          <a:solidFill>
            <a:schemeClr val="bg2"/>
          </a:solidFill>
          <a:ln w="12700">
            <a:solidFill>
              <a:schemeClr val="bg2"/>
            </a:solidFill>
            <a:prstDash val="solid"/>
          </a:ln>
        </p:spPr>
      </p:sp>
      <p:sp>
        <p:nvSpPr>
          <p:cNvPr id="21" name="Text 16"/>
          <p:cNvSpPr txBox="1"/>
          <p:nvPr/>
        </p:nvSpPr>
        <p:spPr>
          <a:xfrm>
            <a:off x="4754880" y="1234440"/>
            <a:ext cx="274320" cy="274320"/>
          </a:xfrm>
          <a:prstGeom prst="rect">
            <a:avLst/>
          </a:prstGeom>
          <a:noFill/>
          <a:ln/>
        </p:spPr>
        <p:txBody>
          <a:bodyPr wrap="square" lIns="0" tIns="0" rIns="0" bIns="0" rtlCol="0" anchor="ctr"/>
          <a:lstStyle/>
          <a:p>
            <a:pPr algn="ctr" indent="0" marL="0">
              <a:buNone/>
            </a:pPr>
            <a:r>
              <a:rPr lang="en-US" sz="1400" b="1" dirty="0">
                <a:solidFill>
                  <a:schemeClr val="accent1"/>
                </a:solidFill>
                <a:latin typeface="Georgia" pitchFamily="34" charset="0"/>
                <a:ea typeface="Georgia" pitchFamily="34" charset="-122"/>
                <a:cs typeface="Georgia" pitchFamily="34" charset="-120"/>
              </a:rPr>
              <a:t>3</a:t>
            </a:r>
            <a:endParaRPr lang="en-US" sz="1400" dirty="0"/>
          </a:p>
        </p:txBody>
      </p:sp>
      <p:sp>
        <p:nvSpPr>
          <p:cNvPr id="22" name="step Approve the plan"/>
          <p:cNvSpPr/>
          <p:nvPr/>
        </p:nvSpPr>
        <p:spPr>
          <a:xfrm>
            <a:off x="3840480" y="2331720"/>
            <a:ext cx="1463040" cy="19659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23" name="Text 18"/>
          <p:cNvSpPr txBox="1"/>
          <p:nvPr/>
        </p:nvSpPr>
        <p:spPr>
          <a:xfrm>
            <a:off x="3977640" y="2487168"/>
            <a:ext cx="1188720" cy="548640"/>
          </a:xfrm>
          <a:prstGeom prst="rect">
            <a:avLst/>
          </a:prstGeom>
          <a:noFill/>
          <a:ln/>
        </p:spPr>
        <p:txBody>
          <a:bodyPr wrap="square" lIns="0" tIns="0" rIns="0" bIns="0" rtlCol="0" anchor="t"/>
          <a:lstStyle/>
          <a:p>
            <a:pPr indent="0" marL="0">
              <a:buNone/>
            </a:pPr>
            <a:r>
              <a:rPr lang="en-US" sz="1400" b="1" dirty="0">
                <a:solidFill>
                  <a:schemeClr val="tx1"/>
                </a:solidFill>
              </a:rPr>
              <a:t>Approve the plan</a:t>
            </a:r>
            <a:endParaRPr lang="en-US" sz="1400" dirty="0"/>
          </a:p>
        </p:txBody>
      </p:sp>
      <p:sp>
        <p:nvSpPr>
          <p:cNvPr id="24" name="Text 19"/>
          <p:cNvSpPr txBox="1"/>
          <p:nvPr/>
        </p:nvSpPr>
        <p:spPr>
          <a:xfrm>
            <a:off x="3977640" y="3063240"/>
            <a:ext cx="1188720" cy="1097280"/>
          </a:xfrm>
          <a:prstGeom prst="rect">
            <a:avLst/>
          </a:prstGeom>
          <a:noFill/>
          <a:ln/>
        </p:spPr>
        <p:txBody>
          <a:bodyPr wrap="square" lIns="0" tIns="0" rIns="0" bIns="0" rtlCol="0" anchor="t"/>
          <a:lstStyle/>
          <a:p>
            <a:pPr indent="0" marL="0">
              <a:buNone/>
            </a:pPr>
            <a:r>
              <a:rPr lang="en-US" sz="1200" dirty="0">
                <a:solidFill>
                  <a:schemeClr val="tx2"/>
                </a:solidFill>
              </a:rPr>
              <a:t>Claude shows a short plan. You say yes.</a:t>
            </a:r>
            <a:endParaRPr lang="en-US" sz="1200" dirty="0"/>
          </a:p>
        </p:txBody>
      </p:sp>
      <p:sp>
        <p:nvSpPr>
          <p:cNvPr id="25" name="Preview it circle"/>
          <p:cNvSpPr/>
          <p:nvPr/>
        </p:nvSpPr>
        <p:spPr>
          <a:xfrm>
            <a:off x="5852160" y="1325880"/>
            <a:ext cx="731520" cy="731520"/>
          </a:xfrm>
          <a:prstGeom prst="ellipse">
            <a:avLst/>
          </a:prstGeom>
          <a:solidFill>
            <a:schemeClr val="tx1"/>
          </a:solidFill>
          <a:ln w="12700">
            <a:solidFill>
              <a:schemeClr val="tx1"/>
            </a:solidFill>
            <a:prstDash val="solid"/>
          </a:ln>
        </p:spPr>
      </p:sp>
      <p:pic>
        <p:nvPicPr>
          <p:cNvPr id="26" name="Preview it" descr="preencoded.png">    </p:cNvPr>
          <p:cNvPicPr>
            <a:picLocks noChangeAspect="1"/>
          </p:cNvPicPr>
          <p:nvPr/>
        </p:nvPicPr>
        <p:blipFill>
          <a:blip r:embed="rId4"/>
          <a:stretch>
            <a:fillRect/>
          </a:stretch>
        </p:blipFill>
        <p:spPr>
          <a:xfrm>
            <a:off x="6049670" y="1523390"/>
            <a:ext cx="336499" cy="336499"/>
          </a:xfrm>
          <a:prstGeom prst="rect">
            <a:avLst/>
          </a:prstGeom>
        </p:spPr>
      </p:pic>
      <p:sp>
        <p:nvSpPr>
          <p:cNvPr id="27" name="step 4"/>
          <p:cNvSpPr/>
          <p:nvPr/>
        </p:nvSpPr>
        <p:spPr>
          <a:xfrm>
            <a:off x="6400800" y="1234440"/>
            <a:ext cx="274320" cy="274320"/>
          </a:xfrm>
          <a:prstGeom prst="ellipse">
            <a:avLst/>
          </a:prstGeom>
          <a:solidFill>
            <a:schemeClr val="bg2"/>
          </a:solidFill>
          <a:ln w="12700">
            <a:solidFill>
              <a:schemeClr val="bg2"/>
            </a:solidFill>
            <a:prstDash val="solid"/>
          </a:ln>
        </p:spPr>
      </p:sp>
      <p:sp>
        <p:nvSpPr>
          <p:cNvPr id="28" name="Text 22"/>
          <p:cNvSpPr txBox="1"/>
          <p:nvPr/>
        </p:nvSpPr>
        <p:spPr>
          <a:xfrm>
            <a:off x="6400800" y="1234440"/>
            <a:ext cx="274320" cy="274320"/>
          </a:xfrm>
          <a:prstGeom prst="rect">
            <a:avLst/>
          </a:prstGeom>
          <a:noFill/>
          <a:ln/>
        </p:spPr>
        <p:txBody>
          <a:bodyPr wrap="square" lIns="0" tIns="0" rIns="0" bIns="0" rtlCol="0" anchor="ctr"/>
          <a:lstStyle/>
          <a:p>
            <a:pPr algn="ctr" indent="0" marL="0">
              <a:buNone/>
            </a:pPr>
            <a:r>
              <a:rPr lang="en-US" sz="1400" b="1" dirty="0">
                <a:solidFill>
                  <a:schemeClr val="accent1"/>
                </a:solidFill>
                <a:latin typeface="Georgia" pitchFamily="34" charset="0"/>
                <a:ea typeface="Georgia" pitchFamily="34" charset="-122"/>
                <a:cs typeface="Georgia" pitchFamily="34" charset="-120"/>
              </a:rPr>
              <a:t>4</a:t>
            </a:r>
            <a:endParaRPr lang="en-US" sz="1400" dirty="0"/>
          </a:p>
        </p:txBody>
      </p:sp>
      <p:sp>
        <p:nvSpPr>
          <p:cNvPr id="29" name="step Preview it"/>
          <p:cNvSpPr/>
          <p:nvPr/>
        </p:nvSpPr>
        <p:spPr>
          <a:xfrm>
            <a:off x="5486400" y="2331720"/>
            <a:ext cx="1463040" cy="19659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30" name="Text 24"/>
          <p:cNvSpPr txBox="1"/>
          <p:nvPr/>
        </p:nvSpPr>
        <p:spPr>
          <a:xfrm>
            <a:off x="5623560" y="2487168"/>
            <a:ext cx="1188720" cy="548640"/>
          </a:xfrm>
          <a:prstGeom prst="rect">
            <a:avLst/>
          </a:prstGeom>
          <a:noFill/>
          <a:ln/>
        </p:spPr>
        <p:txBody>
          <a:bodyPr wrap="square" lIns="0" tIns="0" rIns="0" bIns="0" rtlCol="0" anchor="t"/>
          <a:lstStyle/>
          <a:p>
            <a:pPr indent="0" marL="0">
              <a:buNone/>
            </a:pPr>
            <a:r>
              <a:rPr lang="en-US" sz="1400" b="1" dirty="0">
                <a:solidFill>
                  <a:schemeClr val="tx1"/>
                </a:solidFill>
              </a:rPr>
              <a:t>Preview it</a:t>
            </a:r>
            <a:endParaRPr lang="en-US" sz="1400" dirty="0"/>
          </a:p>
        </p:txBody>
      </p:sp>
      <p:sp>
        <p:nvSpPr>
          <p:cNvPr id="31" name="Text 25"/>
          <p:cNvSpPr txBox="1"/>
          <p:nvPr/>
        </p:nvSpPr>
        <p:spPr>
          <a:xfrm>
            <a:off x="5623560" y="3063240"/>
            <a:ext cx="1188720" cy="1097280"/>
          </a:xfrm>
          <a:prstGeom prst="rect">
            <a:avLst/>
          </a:prstGeom>
          <a:noFill/>
          <a:ln/>
        </p:spPr>
        <p:txBody>
          <a:bodyPr wrap="square" lIns="0" tIns="0" rIns="0" bIns="0" rtlCol="0" anchor="t"/>
          <a:lstStyle/>
          <a:p>
            <a:pPr indent="0" marL="0">
              <a:buNone/>
            </a:pPr>
            <a:r>
              <a:rPr lang="en-US" sz="1200" dirty="0">
                <a:solidFill>
                  <a:schemeClr val="tx2"/>
                </a:solidFill>
              </a:rPr>
              <a:t>Claude builds and tests it, then gives you a link.</a:t>
            </a:r>
            <a:endParaRPr lang="en-US" sz="1200" dirty="0"/>
          </a:p>
        </p:txBody>
      </p:sp>
      <p:sp>
        <p:nvSpPr>
          <p:cNvPr id="32" name="Ship it circle"/>
          <p:cNvSpPr/>
          <p:nvPr/>
        </p:nvSpPr>
        <p:spPr>
          <a:xfrm>
            <a:off x="7498080" y="1325880"/>
            <a:ext cx="731520" cy="731520"/>
          </a:xfrm>
          <a:prstGeom prst="ellipse">
            <a:avLst/>
          </a:prstGeom>
          <a:solidFill>
            <a:schemeClr val="accent1"/>
          </a:solidFill>
          <a:ln w="12700">
            <a:solidFill>
              <a:schemeClr val="accent1"/>
            </a:solidFill>
            <a:prstDash val="solid"/>
          </a:ln>
        </p:spPr>
      </p:sp>
      <p:pic>
        <p:nvPicPr>
          <p:cNvPr id="33" name="Ship it" descr="preencoded.png">    </p:cNvPr>
          <p:cNvPicPr>
            <a:picLocks noChangeAspect="1"/>
          </p:cNvPicPr>
          <p:nvPr/>
        </p:nvPicPr>
        <p:blipFill>
          <a:blip r:embed="rId5"/>
          <a:stretch>
            <a:fillRect/>
          </a:stretch>
        </p:blipFill>
        <p:spPr>
          <a:xfrm>
            <a:off x="7695590" y="1523390"/>
            <a:ext cx="336499" cy="336499"/>
          </a:xfrm>
          <a:prstGeom prst="rect">
            <a:avLst/>
          </a:prstGeom>
        </p:spPr>
      </p:pic>
      <p:sp>
        <p:nvSpPr>
          <p:cNvPr id="34" name="step 5"/>
          <p:cNvSpPr/>
          <p:nvPr/>
        </p:nvSpPr>
        <p:spPr>
          <a:xfrm>
            <a:off x="8046720" y="1234440"/>
            <a:ext cx="274320" cy="274320"/>
          </a:xfrm>
          <a:prstGeom prst="ellipse">
            <a:avLst/>
          </a:prstGeom>
          <a:solidFill>
            <a:schemeClr val="bg2"/>
          </a:solidFill>
          <a:ln w="12700">
            <a:solidFill>
              <a:schemeClr val="bg2"/>
            </a:solidFill>
            <a:prstDash val="solid"/>
          </a:ln>
        </p:spPr>
      </p:sp>
      <p:sp>
        <p:nvSpPr>
          <p:cNvPr id="35" name="Text 28"/>
          <p:cNvSpPr txBox="1"/>
          <p:nvPr/>
        </p:nvSpPr>
        <p:spPr>
          <a:xfrm>
            <a:off x="8046720" y="1234440"/>
            <a:ext cx="274320" cy="274320"/>
          </a:xfrm>
          <a:prstGeom prst="rect">
            <a:avLst/>
          </a:prstGeom>
          <a:noFill/>
          <a:ln/>
        </p:spPr>
        <p:txBody>
          <a:bodyPr wrap="square" lIns="0" tIns="0" rIns="0" bIns="0" rtlCol="0" anchor="ctr"/>
          <a:lstStyle/>
          <a:p>
            <a:pPr algn="ctr" indent="0" marL="0">
              <a:buNone/>
            </a:pPr>
            <a:r>
              <a:rPr lang="en-US" sz="1400" b="1" dirty="0">
                <a:solidFill>
                  <a:schemeClr val="accent1"/>
                </a:solidFill>
                <a:latin typeface="Georgia" pitchFamily="34" charset="0"/>
                <a:ea typeface="Georgia" pitchFamily="34" charset="-122"/>
                <a:cs typeface="Georgia" pitchFamily="34" charset="-120"/>
              </a:rPr>
              <a:t>5</a:t>
            </a:r>
            <a:endParaRPr lang="en-US" sz="1400" dirty="0"/>
          </a:p>
        </p:txBody>
      </p:sp>
      <p:sp>
        <p:nvSpPr>
          <p:cNvPr id="36" name="step Ship it"/>
          <p:cNvSpPr/>
          <p:nvPr/>
        </p:nvSpPr>
        <p:spPr>
          <a:xfrm>
            <a:off x="7132320" y="2331720"/>
            <a:ext cx="1463040" cy="19659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37" name="Text 30"/>
          <p:cNvSpPr txBox="1"/>
          <p:nvPr/>
        </p:nvSpPr>
        <p:spPr>
          <a:xfrm>
            <a:off x="7269480" y="2487168"/>
            <a:ext cx="1188720" cy="548640"/>
          </a:xfrm>
          <a:prstGeom prst="rect">
            <a:avLst/>
          </a:prstGeom>
          <a:noFill/>
          <a:ln/>
        </p:spPr>
        <p:txBody>
          <a:bodyPr wrap="square" lIns="0" tIns="0" rIns="0" bIns="0" rtlCol="0" anchor="t"/>
          <a:lstStyle/>
          <a:p>
            <a:pPr indent="0" marL="0">
              <a:buNone/>
            </a:pPr>
            <a:r>
              <a:rPr lang="en-US" sz="1400" b="1" dirty="0">
                <a:solidFill>
                  <a:schemeClr val="tx1"/>
                </a:solidFill>
              </a:rPr>
              <a:t>Ship it</a:t>
            </a:r>
            <a:endParaRPr lang="en-US" sz="1400" dirty="0"/>
          </a:p>
        </p:txBody>
      </p:sp>
      <p:sp>
        <p:nvSpPr>
          <p:cNvPr id="38" name="Text 31"/>
          <p:cNvSpPr txBox="1"/>
          <p:nvPr/>
        </p:nvSpPr>
        <p:spPr>
          <a:xfrm>
            <a:off x="7269480" y="3063240"/>
            <a:ext cx="1188720" cy="1097280"/>
          </a:xfrm>
          <a:prstGeom prst="rect">
            <a:avLst/>
          </a:prstGeom>
          <a:noFill/>
          <a:ln/>
        </p:spPr>
        <p:txBody>
          <a:bodyPr wrap="square" lIns="0" tIns="0" rIns="0" bIns="0" rtlCol="0" anchor="t"/>
          <a:lstStyle/>
          <a:p>
            <a:pPr indent="0" marL="0">
              <a:buNone/>
            </a:pPr>
            <a:r>
              <a:rPr lang="en-US" sz="1200" dirty="0">
                <a:solidFill>
                  <a:schemeClr val="tx2"/>
                </a:solidFill>
              </a:rPr>
              <a:t>It's sent for approval.</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Two lanes</a:t>
            </a:r>
            <a:endParaRPr lang="en-US" sz="3000" dirty="0"/>
          </a:p>
        </p:txBody>
      </p:sp>
      <p:sp>
        <p:nvSpPr>
          <p:cNvPr id="3" name="Green lane"/>
          <p:cNvSpPr/>
          <p:nvPr/>
        </p:nvSpPr>
        <p:spPr>
          <a:xfrm>
            <a:off x="548640" y="1143000"/>
            <a:ext cx="3931920" cy="2971800"/>
          </a:xfrm>
          <a:prstGeom prst="roundRect">
            <a:avLst>
              <a:gd name="adj" fmla="val 246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4" name="Green lane pill"/>
          <p:cNvSpPr/>
          <p:nvPr/>
        </p:nvSpPr>
        <p:spPr>
          <a:xfrm>
            <a:off x="777240" y="1371600"/>
            <a:ext cx="1600200" cy="384048"/>
          </a:xfrm>
          <a:prstGeom prst="roundRect">
            <a:avLst>
              <a:gd name="adj" fmla="val 50000"/>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896112" y="1453896"/>
            <a:ext cx="219456" cy="219456"/>
          </a:xfrm>
          <a:prstGeom prst="rect">
            <a:avLst/>
          </a:prstGeom>
        </p:spPr>
      </p:pic>
      <p:sp>
        <p:nvSpPr>
          <p:cNvPr id="6" name="Text 3"/>
          <p:cNvSpPr txBox="1"/>
          <p:nvPr/>
        </p:nvSpPr>
        <p:spPr>
          <a:xfrm>
            <a:off x="1188720" y="1371600"/>
            <a:ext cx="1188720" cy="384048"/>
          </a:xfrm>
          <a:prstGeom prst="rect">
            <a:avLst/>
          </a:prstGeom>
          <a:noFill/>
          <a:ln/>
        </p:spPr>
        <p:txBody>
          <a:bodyPr wrap="square" lIns="0" tIns="0" rIns="0" bIns="0" rtlCol="0" anchor="ctr"/>
          <a:lstStyle/>
          <a:p>
            <a:pPr indent="0" marL="0">
              <a:buNone/>
            </a:pPr>
            <a:r>
              <a:rPr lang="en-US" sz="1300" b="1" dirty="0">
                <a:solidFill>
                  <a:schemeClr val="bg1"/>
                </a:solidFill>
              </a:rPr>
              <a:t>Green lane</a:t>
            </a:r>
            <a:endParaRPr lang="en-US" sz="1300" dirty="0"/>
          </a:p>
        </p:txBody>
      </p:sp>
      <p:sp>
        <p:nvSpPr>
          <p:cNvPr id="7" name="Text 4"/>
          <p:cNvSpPr txBox="1"/>
          <p:nvPr/>
        </p:nvSpPr>
        <p:spPr>
          <a:xfrm>
            <a:off x="777240" y="196596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WHEN</a:t>
            </a:r>
            <a:endParaRPr lang="en-US" sz="900" dirty="0"/>
          </a:p>
        </p:txBody>
      </p:sp>
      <p:sp>
        <p:nvSpPr>
          <p:cNvPr id="8" name="Text 5"/>
          <p:cNvSpPr txBox="1"/>
          <p:nvPr/>
        </p:nvSpPr>
        <p:spPr>
          <a:xfrm>
            <a:off x="777240" y="2167128"/>
            <a:ext cx="3520440" cy="411480"/>
          </a:xfrm>
          <a:prstGeom prst="rect">
            <a:avLst/>
          </a:prstGeom>
          <a:noFill/>
          <a:ln/>
        </p:spPr>
        <p:txBody>
          <a:bodyPr wrap="square" lIns="0" tIns="0" rIns="0" bIns="0" rtlCol="0" anchor="t"/>
          <a:lstStyle/>
          <a:p>
            <a:pPr indent="0" marL="0">
              <a:buNone/>
            </a:pPr>
            <a:r>
              <a:rPr lang="en-US" sz="1300" dirty="0">
                <a:solidFill>
                  <a:schemeClr val="tx1"/>
                </a:solidFill>
              </a:rPr>
              <a:t>Only your screen changed, and every check passed</a:t>
            </a:r>
            <a:endParaRPr lang="en-US" sz="1300" dirty="0"/>
          </a:p>
        </p:txBody>
      </p:sp>
      <p:sp>
        <p:nvSpPr>
          <p:cNvPr id="9" name="Text 6"/>
          <p:cNvSpPr txBox="1"/>
          <p:nvPr/>
        </p:nvSpPr>
        <p:spPr>
          <a:xfrm>
            <a:off x="777240" y="269748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WHO APPROVES</a:t>
            </a:r>
            <a:endParaRPr lang="en-US" sz="900" dirty="0"/>
          </a:p>
        </p:txBody>
      </p:sp>
      <p:sp>
        <p:nvSpPr>
          <p:cNvPr id="10" name="Text 7"/>
          <p:cNvSpPr txBox="1"/>
          <p:nvPr/>
        </p:nvSpPr>
        <p:spPr>
          <a:xfrm>
            <a:off x="777240" y="2898648"/>
            <a:ext cx="3520440" cy="411480"/>
          </a:xfrm>
          <a:prstGeom prst="rect">
            <a:avLst/>
          </a:prstGeom>
          <a:noFill/>
          <a:ln/>
        </p:spPr>
        <p:txBody>
          <a:bodyPr wrap="square" lIns="0" tIns="0" rIns="0" bIns="0" rtlCol="0" anchor="t"/>
          <a:lstStyle/>
          <a:p>
            <a:pPr indent="0" marL="0">
              <a:buNone/>
            </a:pPr>
            <a:r>
              <a:rPr lang="en-US" sz="1300" dirty="0">
                <a:solidFill>
                  <a:schemeClr val="tx1"/>
                </a:solidFill>
              </a:rPr>
              <a:t>One business approver</a:t>
            </a:r>
            <a:endParaRPr lang="en-US" sz="1300" dirty="0"/>
          </a:p>
        </p:txBody>
      </p:sp>
      <p:sp>
        <p:nvSpPr>
          <p:cNvPr id="11" name="Text 8"/>
          <p:cNvSpPr txBox="1"/>
          <p:nvPr/>
        </p:nvSpPr>
        <p:spPr>
          <a:xfrm>
            <a:off x="777240" y="342900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THEN</a:t>
            </a:r>
            <a:endParaRPr lang="en-US" sz="900" dirty="0"/>
          </a:p>
        </p:txBody>
      </p:sp>
      <p:sp>
        <p:nvSpPr>
          <p:cNvPr id="12" name="Text 9"/>
          <p:cNvSpPr txBox="1"/>
          <p:nvPr/>
        </p:nvSpPr>
        <p:spPr>
          <a:xfrm>
            <a:off x="777240" y="3630168"/>
            <a:ext cx="3520440" cy="411480"/>
          </a:xfrm>
          <a:prstGeom prst="rect">
            <a:avLst/>
          </a:prstGeom>
          <a:noFill/>
          <a:ln/>
        </p:spPr>
        <p:txBody>
          <a:bodyPr wrap="square" lIns="0" tIns="0" rIns="0" bIns="0" rtlCol="0" anchor="t"/>
          <a:lstStyle/>
          <a:p>
            <a:pPr indent="0" marL="0">
              <a:buNone/>
            </a:pPr>
            <a:r>
              <a:rPr lang="en-US" sz="1300" dirty="0">
                <a:solidFill>
                  <a:schemeClr val="tx1"/>
                </a:solidFill>
              </a:rPr>
              <a:t>Goes live automatically</a:t>
            </a:r>
            <a:endParaRPr lang="en-US" sz="1300" dirty="0"/>
          </a:p>
        </p:txBody>
      </p:sp>
      <p:sp>
        <p:nvSpPr>
          <p:cNvPr id="13" name="Review lane"/>
          <p:cNvSpPr/>
          <p:nvPr/>
        </p:nvSpPr>
        <p:spPr>
          <a:xfrm>
            <a:off x="4663440" y="1143000"/>
            <a:ext cx="3931920" cy="2971800"/>
          </a:xfrm>
          <a:prstGeom prst="roundRect">
            <a:avLst>
              <a:gd name="adj" fmla="val 246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4" name="Review lane pill"/>
          <p:cNvSpPr/>
          <p:nvPr/>
        </p:nvSpPr>
        <p:spPr>
          <a:xfrm>
            <a:off x="4892040" y="1371600"/>
            <a:ext cx="1600200" cy="384048"/>
          </a:xfrm>
          <a:prstGeom prst="roundRect">
            <a:avLst>
              <a:gd name="adj" fmla="val 50000"/>
            </a:avLst>
          </a:prstGeom>
          <a:solidFill>
            <a:schemeClr val="accent1"/>
          </a:solidFill>
          <a:ln w="12700">
            <a:solidFill>
              <a:schemeClr val="accent1"/>
            </a:solidFill>
            <a:prstDash val="solid"/>
          </a:ln>
        </p:spPr>
      </p:sp>
      <p:pic>
        <p:nvPicPr>
          <p:cNvPr id="15" name="Image 1" descr="preencoded.png">    </p:cNvPr>
          <p:cNvPicPr>
            <a:picLocks noChangeAspect="1"/>
          </p:cNvPicPr>
          <p:nvPr/>
        </p:nvPicPr>
        <p:blipFill>
          <a:blip r:embed="rId2"/>
          <a:stretch>
            <a:fillRect/>
          </a:stretch>
        </p:blipFill>
        <p:spPr>
          <a:xfrm>
            <a:off x="5010912" y="1453896"/>
            <a:ext cx="219456" cy="219456"/>
          </a:xfrm>
          <a:prstGeom prst="rect">
            <a:avLst/>
          </a:prstGeom>
        </p:spPr>
      </p:pic>
      <p:sp>
        <p:nvSpPr>
          <p:cNvPr id="16" name="Text 12"/>
          <p:cNvSpPr txBox="1"/>
          <p:nvPr/>
        </p:nvSpPr>
        <p:spPr>
          <a:xfrm>
            <a:off x="5303520" y="1371600"/>
            <a:ext cx="1188720" cy="384048"/>
          </a:xfrm>
          <a:prstGeom prst="rect">
            <a:avLst/>
          </a:prstGeom>
          <a:noFill/>
          <a:ln/>
        </p:spPr>
        <p:txBody>
          <a:bodyPr wrap="square" lIns="0" tIns="0" rIns="0" bIns="0" rtlCol="0" anchor="ctr"/>
          <a:lstStyle/>
          <a:p>
            <a:pPr indent="0" marL="0">
              <a:buNone/>
            </a:pPr>
            <a:r>
              <a:rPr lang="en-US" sz="1300" b="1" dirty="0">
                <a:solidFill>
                  <a:schemeClr val="bg1"/>
                </a:solidFill>
              </a:rPr>
              <a:t>Review lane</a:t>
            </a:r>
            <a:endParaRPr lang="en-US" sz="1300" dirty="0"/>
          </a:p>
        </p:txBody>
      </p:sp>
      <p:sp>
        <p:nvSpPr>
          <p:cNvPr id="17" name="Text 13"/>
          <p:cNvSpPr txBox="1"/>
          <p:nvPr/>
        </p:nvSpPr>
        <p:spPr>
          <a:xfrm>
            <a:off x="4892040" y="196596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WHEN</a:t>
            </a:r>
            <a:endParaRPr lang="en-US" sz="900" dirty="0"/>
          </a:p>
        </p:txBody>
      </p:sp>
      <p:sp>
        <p:nvSpPr>
          <p:cNvPr id="18" name="Text 14"/>
          <p:cNvSpPr txBox="1"/>
          <p:nvPr/>
        </p:nvSpPr>
        <p:spPr>
          <a:xfrm>
            <a:off x="4892040" y="2167128"/>
            <a:ext cx="3520440" cy="411480"/>
          </a:xfrm>
          <a:prstGeom prst="rect">
            <a:avLst/>
          </a:prstGeom>
          <a:noFill/>
          <a:ln/>
        </p:spPr>
        <p:txBody>
          <a:bodyPr wrap="square" lIns="0" tIns="0" rIns="0" bIns="0" rtlCol="0" anchor="t"/>
          <a:lstStyle/>
          <a:p>
            <a:pPr indent="0" marL="0">
              <a:buNone/>
            </a:pPr>
            <a:r>
              <a:rPr lang="en-US" sz="1300" dirty="0">
                <a:solidFill>
                  <a:schemeClr val="tx1"/>
                </a:solidFill>
              </a:rPr>
              <a:t>Anything touching the core, a failed check, or a serious AI finding</a:t>
            </a:r>
            <a:endParaRPr lang="en-US" sz="1300" dirty="0"/>
          </a:p>
        </p:txBody>
      </p:sp>
      <p:sp>
        <p:nvSpPr>
          <p:cNvPr id="19" name="Text 15"/>
          <p:cNvSpPr txBox="1"/>
          <p:nvPr/>
        </p:nvSpPr>
        <p:spPr>
          <a:xfrm>
            <a:off x="4892040" y="269748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WHO APPROVES</a:t>
            </a:r>
            <a:endParaRPr lang="en-US" sz="900" dirty="0"/>
          </a:p>
        </p:txBody>
      </p:sp>
      <p:sp>
        <p:nvSpPr>
          <p:cNvPr id="20" name="Text 16"/>
          <p:cNvSpPr txBox="1"/>
          <p:nvPr/>
        </p:nvSpPr>
        <p:spPr>
          <a:xfrm>
            <a:off x="4892040" y="2898648"/>
            <a:ext cx="3520440" cy="411480"/>
          </a:xfrm>
          <a:prstGeom prst="rect">
            <a:avLst/>
          </a:prstGeom>
          <a:noFill/>
          <a:ln/>
        </p:spPr>
        <p:txBody>
          <a:bodyPr wrap="square" lIns="0" tIns="0" rIns="0" bIns="0" rtlCol="0" anchor="t"/>
          <a:lstStyle/>
          <a:p>
            <a:pPr indent="0" marL="0">
              <a:buNone/>
            </a:pPr>
            <a:r>
              <a:rPr lang="en-US" sz="1300" dirty="0">
                <a:solidFill>
                  <a:schemeClr val="tx1"/>
                </a:solidFill>
              </a:rPr>
              <a:t>An engineer</a:t>
            </a:r>
            <a:endParaRPr lang="en-US" sz="1300" dirty="0"/>
          </a:p>
        </p:txBody>
      </p:sp>
      <p:sp>
        <p:nvSpPr>
          <p:cNvPr id="21" name="Text 17"/>
          <p:cNvSpPr txBox="1"/>
          <p:nvPr/>
        </p:nvSpPr>
        <p:spPr>
          <a:xfrm>
            <a:off x="4892040" y="3429000"/>
            <a:ext cx="3474720" cy="201168"/>
          </a:xfrm>
          <a:prstGeom prst="rect">
            <a:avLst/>
          </a:prstGeom>
          <a:noFill/>
          <a:ln/>
        </p:spPr>
        <p:txBody>
          <a:bodyPr wrap="square" lIns="0" tIns="0" rIns="0" bIns="0" rtlCol="0" anchor="t"/>
          <a:lstStyle/>
          <a:p>
            <a:pPr indent="0" marL="0">
              <a:buNone/>
            </a:pPr>
            <a:r>
              <a:rPr lang="en-US" sz="900" b="1" spc="100" kern="0" dirty="0">
                <a:solidFill>
                  <a:schemeClr val="accent3"/>
                </a:solidFill>
              </a:rPr>
              <a:t>THEN</a:t>
            </a:r>
            <a:endParaRPr lang="en-US" sz="900" dirty="0"/>
          </a:p>
        </p:txBody>
      </p:sp>
      <p:sp>
        <p:nvSpPr>
          <p:cNvPr id="22" name="Text 18"/>
          <p:cNvSpPr txBox="1"/>
          <p:nvPr/>
        </p:nvSpPr>
        <p:spPr>
          <a:xfrm>
            <a:off x="4892040" y="3630168"/>
            <a:ext cx="3520440" cy="411480"/>
          </a:xfrm>
          <a:prstGeom prst="rect">
            <a:avLst/>
          </a:prstGeom>
          <a:noFill/>
          <a:ln/>
        </p:spPr>
        <p:txBody>
          <a:bodyPr wrap="square" lIns="0" tIns="0" rIns="0" bIns="0" rtlCol="0" anchor="t"/>
          <a:lstStyle/>
          <a:p>
            <a:pPr indent="0" marL="0">
              <a:buNone/>
            </a:pPr>
            <a:r>
              <a:rPr lang="en-US" sz="1300" dirty="0">
                <a:solidFill>
                  <a:schemeClr val="tx1"/>
                </a:solidFill>
              </a:rPr>
              <a:t>Goes live after the engineer approves</a:t>
            </a:r>
            <a:endParaRPr lang="en-US" sz="1300" dirty="0"/>
          </a:p>
        </p:txBody>
      </p:sp>
      <p:sp>
        <p:nvSpPr>
          <p:cNvPr id="23" name="Text 19"/>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400" b="1" dirty="0">
                <a:solidFill>
                  <a:schemeClr val="accent2"/>
                </a:solidFill>
              </a:rPr>
              <a:t>Most requests are green. </a:t>
            </a:r>
            <a:pPr indent="0" marL="0">
              <a:buNone/>
            </a:pPr>
            <a:r>
              <a:rPr lang="en-US" sz="1400" dirty="0">
                <a:solidFill>
                  <a:schemeClr val="tx2"/>
                </a:solidFill>
              </a:rPr>
              <a:t>The risky few get an engineer's eyes.</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Why the guardrails</a:t>
            </a:r>
            <a:endParaRPr lang="en-US" sz="3000" dirty="0"/>
          </a:p>
        </p:txBody>
      </p:sp>
      <p:sp>
        <p:nvSpPr>
          <p:cNvPr id="3" name="statement"/>
          <p:cNvSpPr/>
          <p:nvPr/>
        </p:nvSpPr>
        <p:spPr>
          <a:xfrm>
            <a:off x="548640" y="1188720"/>
            <a:ext cx="3657600" cy="3200400"/>
          </a:xfrm>
          <a:prstGeom prst="roundRect">
            <a:avLst>
              <a:gd name="adj" fmla="val 2286"/>
            </a:avLst>
          </a:prstGeom>
          <a:solidFill>
            <a:schemeClr val="tx1"/>
          </a:solidFill>
          <a:ln w="12700">
            <a:solidFill>
              <a:schemeClr val="tx1"/>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822960" y="1463040"/>
            <a:ext cx="3108960" cy="731520"/>
          </a:xfrm>
          <a:prstGeom prst="rect">
            <a:avLst/>
          </a:prstGeom>
          <a:noFill/>
          <a:ln/>
        </p:spPr>
        <p:txBody>
          <a:bodyPr wrap="square" lIns="0" tIns="0" rIns="0" bIns="0" rtlCol="0" anchor="t"/>
          <a:lstStyle/>
          <a:p>
            <a:pPr indent="0" marL="0">
              <a:buNone/>
            </a:pPr>
            <a:r>
              <a:rPr lang="en-US" sz="1500" dirty="0">
                <a:solidFill>
                  <a:schemeClr val="accent3"/>
                </a:solidFill>
              </a:rPr>
              <a:t>Our numbers drive investment decisions.</a:t>
            </a:r>
            <a:endParaRPr lang="en-US" sz="1500" dirty="0"/>
          </a:p>
        </p:txBody>
      </p:sp>
      <p:sp>
        <p:nvSpPr>
          <p:cNvPr id="5" name="Text 3"/>
          <p:cNvSpPr txBox="1"/>
          <p:nvPr/>
        </p:nvSpPr>
        <p:spPr>
          <a:xfrm>
            <a:off x="822960" y="2103120"/>
            <a:ext cx="3108960" cy="822960"/>
          </a:xfrm>
          <a:prstGeom prst="rect">
            <a:avLst/>
          </a:prstGeom>
          <a:noFill/>
          <a:ln/>
        </p:spPr>
        <p:txBody>
          <a:bodyPr wrap="square" lIns="0" tIns="0" rIns="0" bIns="0" rtlCol="0" anchor="t"/>
          <a:lstStyle/>
          <a:p>
            <a:pPr indent="0" marL="0">
              <a:buNone/>
            </a:pPr>
            <a:r>
              <a:rPr lang="en-US" sz="1500" dirty="0">
                <a:solidFill>
                  <a:schemeClr val="bg2"/>
                </a:solidFill>
              </a:rPr>
              <a:t>A screen can't change a number. A calculation can.</a:t>
            </a:r>
            <a:endParaRPr lang="en-US" sz="1500" dirty="0"/>
          </a:p>
        </p:txBody>
      </p:sp>
      <p:sp>
        <p:nvSpPr>
          <p:cNvPr id="6" name="Text 4"/>
          <p:cNvSpPr txBox="1"/>
          <p:nvPr/>
        </p:nvSpPr>
        <p:spPr>
          <a:xfrm>
            <a:off x="822960" y="3017520"/>
            <a:ext cx="3108960" cy="1097280"/>
          </a:xfrm>
          <a:prstGeom prst="rect">
            <a:avLst/>
          </a:prstGeom>
          <a:noFill/>
          <a:ln/>
        </p:spPr>
        <p:txBody>
          <a:bodyPr wrap="square" lIns="0" tIns="0" rIns="0" bIns="0" rtlCol="0" anchor="t"/>
          <a:lstStyle/>
          <a:p>
            <a:pPr indent="0" marL="0">
              <a:buNone/>
            </a:pPr>
            <a:r>
              <a:rPr lang="en-US" sz="2200" b="1" dirty="0">
                <a:solidFill>
                  <a:schemeClr val="accent1"/>
                </a:solidFill>
                <a:latin typeface="Georgia" pitchFamily="34" charset="0"/>
                <a:ea typeface="Georgia" pitchFamily="34" charset="-122"/>
                <a:cs typeface="Georgia" pitchFamily="34" charset="-120"/>
              </a:rPr>
              <a:t>Screens are yours. The engine is engineering's.</a:t>
            </a:r>
            <a:endParaRPr lang="en-US" sz="2200" dirty="0"/>
          </a:p>
        </p:txBody>
      </p:sp>
      <p:sp>
        <p:nvSpPr>
          <p:cNvPr id="7" name="Text 5"/>
          <p:cNvSpPr txBox="1"/>
          <p:nvPr/>
        </p:nvSpPr>
        <p:spPr>
          <a:xfrm>
            <a:off x="4572000" y="1188720"/>
            <a:ext cx="4023360" cy="320040"/>
          </a:xfrm>
          <a:prstGeom prst="rect">
            <a:avLst/>
          </a:prstGeom>
          <a:noFill/>
          <a:ln/>
        </p:spPr>
        <p:txBody>
          <a:bodyPr wrap="square" lIns="0" tIns="0" rIns="0" bIns="0" rtlCol="0" anchor="t"/>
          <a:lstStyle/>
          <a:p>
            <a:pPr indent="0" marL="0">
              <a:buNone/>
            </a:pPr>
            <a:r>
              <a:rPr lang="en-US" sz="1300" b="1" dirty="0">
                <a:solidFill>
                  <a:schemeClr val="accent3"/>
                </a:solidFill>
              </a:rPr>
              <a:t>Every change is</a:t>
            </a:r>
            <a:endParaRPr lang="en-US" sz="1300" dirty="0"/>
          </a:p>
        </p:txBody>
      </p:sp>
      <p:sp>
        <p:nvSpPr>
          <p:cNvPr id="8" name="Checked circle"/>
          <p:cNvSpPr/>
          <p:nvPr/>
        </p:nvSpPr>
        <p:spPr>
          <a:xfrm>
            <a:off x="4572000" y="1600200"/>
            <a:ext cx="502920" cy="502920"/>
          </a:xfrm>
          <a:prstGeom prst="ellipse">
            <a:avLst/>
          </a:prstGeom>
          <a:solidFill>
            <a:schemeClr val="accent4"/>
          </a:solidFill>
          <a:ln w="12700">
            <a:solidFill>
              <a:schemeClr val="accent4"/>
            </a:solidFill>
            <a:prstDash val="solid"/>
          </a:ln>
        </p:spPr>
      </p:sp>
      <p:pic>
        <p:nvPicPr>
          <p:cNvPr id="9" name="Checked" descr="preencoded.png">    </p:cNvPr>
          <p:cNvPicPr>
            <a:picLocks noChangeAspect="1"/>
          </p:cNvPicPr>
          <p:nvPr/>
        </p:nvPicPr>
        <p:blipFill>
          <a:blip r:embed="rId1"/>
          <a:stretch>
            <a:fillRect/>
          </a:stretch>
        </p:blipFill>
        <p:spPr>
          <a:xfrm>
            <a:off x="4707788" y="1735988"/>
            <a:ext cx="231343" cy="231343"/>
          </a:xfrm>
          <a:prstGeom prst="rect">
            <a:avLst/>
          </a:prstGeom>
        </p:spPr>
      </p:pic>
      <p:sp>
        <p:nvSpPr>
          <p:cNvPr id="10" name="Text 7"/>
          <p:cNvSpPr txBox="1"/>
          <p:nvPr/>
        </p:nvSpPr>
        <p:spPr>
          <a:xfrm>
            <a:off x="5257800" y="1581912"/>
            <a:ext cx="3337560" cy="274320"/>
          </a:xfrm>
          <a:prstGeom prst="rect">
            <a:avLst/>
          </a:prstGeom>
          <a:noFill/>
          <a:ln/>
        </p:spPr>
        <p:txBody>
          <a:bodyPr wrap="square" lIns="0" tIns="0" rIns="0" bIns="0" rtlCol="0" anchor="t"/>
          <a:lstStyle/>
          <a:p>
            <a:pPr indent="0" marL="0">
              <a:buNone/>
            </a:pPr>
            <a:r>
              <a:rPr lang="en-US" sz="1400" b="1" dirty="0">
                <a:solidFill>
                  <a:schemeClr val="tx1"/>
                </a:solidFill>
              </a:rPr>
              <a:t>Checked</a:t>
            </a:r>
            <a:endParaRPr lang="en-US" sz="1400" dirty="0"/>
          </a:p>
        </p:txBody>
      </p:sp>
      <p:sp>
        <p:nvSpPr>
          <p:cNvPr id="11" name="Text 8"/>
          <p:cNvSpPr txBox="1"/>
          <p:nvPr/>
        </p:nvSpPr>
        <p:spPr>
          <a:xfrm>
            <a:off x="5257800" y="1847088"/>
            <a:ext cx="3337560" cy="274320"/>
          </a:xfrm>
          <a:prstGeom prst="rect">
            <a:avLst/>
          </a:prstGeom>
          <a:noFill/>
          <a:ln/>
        </p:spPr>
        <p:txBody>
          <a:bodyPr wrap="square" lIns="0" tIns="0" rIns="0" bIns="0" rtlCol="0" anchor="t"/>
          <a:lstStyle/>
          <a:p>
            <a:pPr indent="0" marL="0">
              <a:buNone/>
            </a:pPr>
            <a:r>
              <a:rPr lang="en-US" sz="1200" dirty="0">
                <a:solidFill>
                  <a:schemeClr val="tx2"/>
                </a:solidFill>
              </a:rPr>
              <a:t>Automatic checks on every change</a:t>
            </a:r>
            <a:endParaRPr lang="en-US" sz="1200" dirty="0"/>
          </a:p>
        </p:txBody>
      </p:sp>
      <p:sp>
        <p:nvSpPr>
          <p:cNvPr id="12" name="Reviewed by AI circle"/>
          <p:cNvSpPr/>
          <p:nvPr/>
        </p:nvSpPr>
        <p:spPr>
          <a:xfrm>
            <a:off x="4572000" y="2304288"/>
            <a:ext cx="502920" cy="502920"/>
          </a:xfrm>
          <a:prstGeom prst="ellipse">
            <a:avLst/>
          </a:prstGeom>
          <a:solidFill>
            <a:schemeClr val="accent4"/>
          </a:solidFill>
          <a:ln w="12700">
            <a:solidFill>
              <a:schemeClr val="accent4"/>
            </a:solidFill>
            <a:prstDash val="solid"/>
          </a:ln>
        </p:spPr>
      </p:sp>
      <p:pic>
        <p:nvPicPr>
          <p:cNvPr id="13" name="Reviewed by AI" descr="preencoded.png">    </p:cNvPr>
          <p:cNvPicPr>
            <a:picLocks noChangeAspect="1"/>
          </p:cNvPicPr>
          <p:nvPr/>
        </p:nvPicPr>
        <p:blipFill>
          <a:blip r:embed="rId2"/>
          <a:stretch>
            <a:fillRect/>
          </a:stretch>
        </p:blipFill>
        <p:spPr>
          <a:xfrm>
            <a:off x="4707788" y="2440076"/>
            <a:ext cx="231343" cy="231343"/>
          </a:xfrm>
          <a:prstGeom prst="rect">
            <a:avLst/>
          </a:prstGeom>
        </p:spPr>
      </p:pic>
      <p:sp>
        <p:nvSpPr>
          <p:cNvPr id="14" name="Text 10"/>
          <p:cNvSpPr txBox="1"/>
          <p:nvPr/>
        </p:nvSpPr>
        <p:spPr>
          <a:xfrm>
            <a:off x="5257800" y="2286000"/>
            <a:ext cx="3337560" cy="274320"/>
          </a:xfrm>
          <a:prstGeom prst="rect">
            <a:avLst/>
          </a:prstGeom>
          <a:noFill/>
          <a:ln/>
        </p:spPr>
        <p:txBody>
          <a:bodyPr wrap="square" lIns="0" tIns="0" rIns="0" bIns="0" rtlCol="0" anchor="t"/>
          <a:lstStyle/>
          <a:p>
            <a:pPr indent="0" marL="0">
              <a:buNone/>
            </a:pPr>
            <a:r>
              <a:rPr lang="en-US" sz="1400" b="1" dirty="0">
                <a:solidFill>
                  <a:schemeClr val="tx1"/>
                </a:solidFill>
              </a:rPr>
              <a:t>Reviewed by AI</a:t>
            </a:r>
            <a:endParaRPr lang="en-US" sz="1400" dirty="0"/>
          </a:p>
        </p:txBody>
      </p:sp>
      <p:sp>
        <p:nvSpPr>
          <p:cNvPr id="15" name="Text 11"/>
          <p:cNvSpPr txBox="1"/>
          <p:nvPr/>
        </p:nvSpPr>
        <p:spPr>
          <a:xfrm>
            <a:off x="5257800" y="2551176"/>
            <a:ext cx="3337560" cy="274320"/>
          </a:xfrm>
          <a:prstGeom prst="rect">
            <a:avLst/>
          </a:prstGeom>
          <a:noFill/>
          <a:ln/>
        </p:spPr>
        <p:txBody>
          <a:bodyPr wrap="square" lIns="0" tIns="0" rIns="0" bIns="0" rtlCol="0" anchor="t"/>
          <a:lstStyle/>
          <a:p>
            <a:pPr indent="0" marL="0">
              <a:buNone/>
            </a:pPr>
            <a:r>
              <a:rPr lang="en-US" sz="1200" dirty="0">
                <a:solidFill>
                  <a:schemeClr val="tx2"/>
                </a:solidFill>
              </a:rPr>
              <a:t>An independent AI review reads it</a:t>
            </a:r>
            <a:endParaRPr lang="en-US" sz="1200" dirty="0"/>
          </a:p>
        </p:txBody>
      </p:sp>
      <p:sp>
        <p:nvSpPr>
          <p:cNvPr id="16" name="Approved by a named person circle"/>
          <p:cNvSpPr/>
          <p:nvPr/>
        </p:nvSpPr>
        <p:spPr>
          <a:xfrm>
            <a:off x="4572000" y="3008376"/>
            <a:ext cx="502920" cy="502920"/>
          </a:xfrm>
          <a:prstGeom prst="ellipse">
            <a:avLst/>
          </a:prstGeom>
          <a:solidFill>
            <a:schemeClr val="accent4"/>
          </a:solidFill>
          <a:ln w="12700">
            <a:solidFill>
              <a:schemeClr val="accent4"/>
            </a:solidFill>
            <a:prstDash val="solid"/>
          </a:ln>
        </p:spPr>
      </p:sp>
      <p:pic>
        <p:nvPicPr>
          <p:cNvPr id="17" name="Approved by a named person" descr="preencoded.png">    </p:cNvPr>
          <p:cNvPicPr>
            <a:picLocks noChangeAspect="1"/>
          </p:cNvPicPr>
          <p:nvPr/>
        </p:nvPicPr>
        <p:blipFill>
          <a:blip r:embed="rId3"/>
          <a:stretch>
            <a:fillRect/>
          </a:stretch>
        </p:blipFill>
        <p:spPr>
          <a:xfrm>
            <a:off x="4707788" y="3144164"/>
            <a:ext cx="231343" cy="231343"/>
          </a:xfrm>
          <a:prstGeom prst="rect">
            <a:avLst/>
          </a:prstGeom>
        </p:spPr>
      </p:pic>
      <p:sp>
        <p:nvSpPr>
          <p:cNvPr id="18" name="Text 13"/>
          <p:cNvSpPr txBox="1"/>
          <p:nvPr/>
        </p:nvSpPr>
        <p:spPr>
          <a:xfrm>
            <a:off x="5257800" y="2990088"/>
            <a:ext cx="3337560" cy="274320"/>
          </a:xfrm>
          <a:prstGeom prst="rect">
            <a:avLst/>
          </a:prstGeom>
          <a:noFill/>
          <a:ln/>
        </p:spPr>
        <p:txBody>
          <a:bodyPr wrap="square" lIns="0" tIns="0" rIns="0" bIns="0" rtlCol="0" anchor="t"/>
          <a:lstStyle/>
          <a:p>
            <a:pPr indent="0" marL="0">
              <a:buNone/>
            </a:pPr>
            <a:r>
              <a:rPr lang="en-US" sz="1400" b="1" dirty="0">
                <a:solidFill>
                  <a:schemeClr val="tx1"/>
                </a:solidFill>
              </a:rPr>
              <a:t>Approved by a named person</a:t>
            </a:r>
            <a:endParaRPr lang="en-US" sz="1400" dirty="0"/>
          </a:p>
        </p:txBody>
      </p:sp>
      <p:sp>
        <p:nvSpPr>
          <p:cNvPr id="19" name="Text 14"/>
          <p:cNvSpPr txBox="1"/>
          <p:nvPr/>
        </p:nvSpPr>
        <p:spPr>
          <a:xfrm>
            <a:off x="5257800" y="3255264"/>
            <a:ext cx="3337560" cy="274320"/>
          </a:xfrm>
          <a:prstGeom prst="rect">
            <a:avLst/>
          </a:prstGeom>
          <a:noFill/>
          <a:ln/>
        </p:spPr>
        <p:txBody>
          <a:bodyPr wrap="square" lIns="0" tIns="0" rIns="0" bIns="0" rtlCol="0" anchor="t"/>
          <a:lstStyle/>
          <a:p>
            <a:pPr indent="0" marL="0">
              <a:buNone/>
            </a:pPr>
            <a:r>
              <a:rPr lang="en-US" sz="1200" dirty="0">
                <a:solidFill>
                  <a:schemeClr val="tx2"/>
                </a:solidFill>
              </a:rPr>
              <a:t>Never the person who asked for it</a:t>
            </a:r>
            <a:endParaRPr lang="en-US" sz="1200" dirty="0"/>
          </a:p>
        </p:txBody>
      </p:sp>
      <p:sp>
        <p:nvSpPr>
          <p:cNvPr id="20" name="Recorded circle"/>
          <p:cNvSpPr/>
          <p:nvPr/>
        </p:nvSpPr>
        <p:spPr>
          <a:xfrm>
            <a:off x="4572000" y="3712464"/>
            <a:ext cx="502920" cy="502920"/>
          </a:xfrm>
          <a:prstGeom prst="ellipse">
            <a:avLst/>
          </a:prstGeom>
          <a:solidFill>
            <a:schemeClr val="accent4"/>
          </a:solidFill>
          <a:ln w="12700">
            <a:solidFill>
              <a:schemeClr val="accent4"/>
            </a:solidFill>
            <a:prstDash val="solid"/>
          </a:ln>
        </p:spPr>
      </p:sp>
      <p:pic>
        <p:nvPicPr>
          <p:cNvPr id="21" name="Recorded" descr="preencoded.png">    </p:cNvPr>
          <p:cNvPicPr>
            <a:picLocks noChangeAspect="1"/>
          </p:cNvPicPr>
          <p:nvPr/>
        </p:nvPicPr>
        <p:blipFill>
          <a:blip r:embed="rId4"/>
          <a:stretch>
            <a:fillRect/>
          </a:stretch>
        </p:blipFill>
        <p:spPr>
          <a:xfrm>
            <a:off x="4707788" y="3848252"/>
            <a:ext cx="231343" cy="231343"/>
          </a:xfrm>
          <a:prstGeom prst="rect">
            <a:avLst/>
          </a:prstGeom>
        </p:spPr>
      </p:pic>
      <p:sp>
        <p:nvSpPr>
          <p:cNvPr id="22" name="Text 16"/>
          <p:cNvSpPr txBox="1"/>
          <p:nvPr/>
        </p:nvSpPr>
        <p:spPr>
          <a:xfrm>
            <a:off x="5257800" y="3694176"/>
            <a:ext cx="3337560" cy="274320"/>
          </a:xfrm>
          <a:prstGeom prst="rect">
            <a:avLst/>
          </a:prstGeom>
          <a:noFill/>
          <a:ln/>
        </p:spPr>
        <p:txBody>
          <a:bodyPr wrap="square" lIns="0" tIns="0" rIns="0" bIns="0" rtlCol="0" anchor="t"/>
          <a:lstStyle/>
          <a:p>
            <a:pPr indent="0" marL="0">
              <a:buNone/>
            </a:pPr>
            <a:r>
              <a:rPr lang="en-US" sz="1400" b="1" dirty="0">
                <a:solidFill>
                  <a:schemeClr val="tx1"/>
                </a:solidFill>
              </a:rPr>
              <a:t>Recorded</a:t>
            </a:r>
            <a:endParaRPr lang="en-US" sz="1400" dirty="0"/>
          </a:p>
        </p:txBody>
      </p:sp>
      <p:sp>
        <p:nvSpPr>
          <p:cNvPr id="23" name="Text 17"/>
          <p:cNvSpPr txBox="1"/>
          <p:nvPr/>
        </p:nvSpPr>
        <p:spPr>
          <a:xfrm>
            <a:off x="5257800" y="3959352"/>
            <a:ext cx="3337560" cy="274320"/>
          </a:xfrm>
          <a:prstGeom prst="rect">
            <a:avLst/>
          </a:prstGeom>
          <a:noFill/>
          <a:ln/>
        </p:spPr>
        <p:txBody>
          <a:bodyPr wrap="square" lIns="0" tIns="0" rIns="0" bIns="0" rtlCol="0" anchor="t"/>
          <a:lstStyle/>
          <a:p>
            <a:pPr indent="0" marL="0">
              <a:buNone/>
            </a:pPr>
            <a:r>
              <a:rPr lang="en-US" sz="1200" dirty="0">
                <a:solidFill>
                  <a:schemeClr val="tx2"/>
                </a:solidFill>
              </a:rPr>
              <a:t>Who asked, what changed, which model</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What you'll see on the approval page</a:t>
            </a:r>
            <a:endParaRPr lang="en-US" sz="3000" dirty="0"/>
          </a:p>
        </p:txBody>
      </p:sp>
      <p:sp>
        <p:nvSpPr>
          <p:cNvPr id="3" name="Plain-English summary"/>
          <p:cNvSpPr/>
          <p:nvPr/>
        </p:nvSpPr>
        <p:spPr>
          <a:xfrm>
            <a:off x="548640" y="118872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4" name="Plain-English summary circle"/>
          <p:cNvSpPr/>
          <p:nvPr/>
        </p:nvSpPr>
        <p:spPr>
          <a:xfrm>
            <a:off x="749808" y="1389888"/>
            <a:ext cx="457200" cy="457200"/>
          </a:xfrm>
          <a:prstGeom prst="ellipse">
            <a:avLst/>
          </a:prstGeom>
          <a:solidFill>
            <a:schemeClr val="accent4"/>
          </a:solidFill>
          <a:ln w="12700">
            <a:solidFill>
              <a:schemeClr val="accent4"/>
            </a:solidFill>
            <a:prstDash val="solid"/>
          </a:ln>
        </p:spPr>
      </p:sp>
      <p:pic>
        <p:nvPicPr>
          <p:cNvPr id="5" name="Plain-English summary" descr="preencoded.png">    </p:cNvPr>
          <p:cNvPicPr>
            <a:picLocks noChangeAspect="1"/>
          </p:cNvPicPr>
          <p:nvPr/>
        </p:nvPicPr>
        <p:blipFill>
          <a:blip r:embed="rId1"/>
          <a:stretch>
            <a:fillRect/>
          </a:stretch>
        </p:blipFill>
        <p:spPr>
          <a:xfrm>
            <a:off x="873252" y="1513332"/>
            <a:ext cx="210312" cy="210312"/>
          </a:xfrm>
          <a:prstGeom prst="rect">
            <a:avLst/>
          </a:prstGeom>
        </p:spPr>
      </p:pic>
      <p:sp>
        <p:nvSpPr>
          <p:cNvPr id="6" name="Text 3"/>
          <p:cNvSpPr txBox="1"/>
          <p:nvPr/>
        </p:nvSpPr>
        <p:spPr>
          <a:xfrm>
            <a:off x="749808" y="1938528"/>
            <a:ext cx="2194560" cy="274320"/>
          </a:xfrm>
          <a:prstGeom prst="rect">
            <a:avLst/>
          </a:prstGeom>
          <a:noFill/>
          <a:ln/>
        </p:spPr>
        <p:txBody>
          <a:bodyPr wrap="square" lIns="0" tIns="0" rIns="0" bIns="0" rtlCol="0" anchor="t"/>
          <a:lstStyle/>
          <a:p>
            <a:pPr indent="0" marL="0">
              <a:buNone/>
            </a:pPr>
            <a:r>
              <a:rPr lang="en-US" sz="1400" b="1" dirty="0">
                <a:solidFill>
                  <a:schemeClr val="tx1"/>
                </a:solidFill>
              </a:rPr>
              <a:t>Plain-English summary</a:t>
            </a:r>
            <a:endParaRPr lang="en-US" sz="1400" dirty="0"/>
          </a:p>
        </p:txBody>
      </p:sp>
      <p:sp>
        <p:nvSpPr>
          <p:cNvPr id="7" name="Text 4"/>
          <p:cNvSpPr txBox="1"/>
          <p:nvPr/>
        </p:nvSpPr>
        <p:spPr>
          <a:xfrm>
            <a:off x="749808" y="2212848"/>
            <a:ext cx="2194560" cy="384048"/>
          </a:xfrm>
          <a:prstGeom prst="rect">
            <a:avLst/>
          </a:prstGeom>
          <a:noFill/>
          <a:ln/>
        </p:spPr>
        <p:txBody>
          <a:bodyPr wrap="square" lIns="0" tIns="0" rIns="0" bIns="0" rtlCol="0" anchor="t"/>
          <a:lstStyle/>
          <a:p>
            <a:pPr indent="0" marL="0">
              <a:buNone/>
            </a:pPr>
            <a:r>
              <a:rPr lang="en-US" sz="1100" dirty="0">
                <a:solidFill>
                  <a:schemeClr val="tx2"/>
                </a:solidFill>
              </a:rPr>
              <a:t>What changed, why, and how it was tested</a:t>
            </a:r>
            <a:endParaRPr lang="en-US" sz="1100" dirty="0"/>
          </a:p>
        </p:txBody>
      </p:sp>
      <p:sp>
        <p:nvSpPr>
          <p:cNvPr id="8" name="The lane, and why"/>
          <p:cNvSpPr/>
          <p:nvPr/>
        </p:nvSpPr>
        <p:spPr>
          <a:xfrm>
            <a:off x="3264408" y="118872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The lane, and why circle"/>
          <p:cNvSpPr/>
          <p:nvPr/>
        </p:nvSpPr>
        <p:spPr>
          <a:xfrm>
            <a:off x="3465576" y="1389888"/>
            <a:ext cx="457200" cy="457200"/>
          </a:xfrm>
          <a:prstGeom prst="ellipse">
            <a:avLst/>
          </a:prstGeom>
          <a:solidFill>
            <a:schemeClr val="accent4"/>
          </a:solidFill>
          <a:ln w="12700">
            <a:solidFill>
              <a:schemeClr val="accent4"/>
            </a:solidFill>
            <a:prstDash val="solid"/>
          </a:ln>
        </p:spPr>
      </p:sp>
      <p:pic>
        <p:nvPicPr>
          <p:cNvPr id="10" name="The lane, and why" descr="preencoded.png">    </p:cNvPr>
          <p:cNvPicPr>
            <a:picLocks noChangeAspect="1"/>
          </p:cNvPicPr>
          <p:nvPr/>
        </p:nvPicPr>
        <p:blipFill>
          <a:blip r:embed="rId2"/>
          <a:stretch>
            <a:fillRect/>
          </a:stretch>
        </p:blipFill>
        <p:spPr>
          <a:xfrm>
            <a:off x="3589020" y="1513332"/>
            <a:ext cx="210312" cy="210312"/>
          </a:xfrm>
          <a:prstGeom prst="rect">
            <a:avLst/>
          </a:prstGeom>
        </p:spPr>
      </p:pic>
      <p:sp>
        <p:nvSpPr>
          <p:cNvPr id="11" name="Text 7"/>
          <p:cNvSpPr txBox="1"/>
          <p:nvPr/>
        </p:nvSpPr>
        <p:spPr>
          <a:xfrm>
            <a:off x="3465576" y="1938528"/>
            <a:ext cx="2194560" cy="274320"/>
          </a:xfrm>
          <a:prstGeom prst="rect">
            <a:avLst/>
          </a:prstGeom>
          <a:noFill/>
          <a:ln/>
        </p:spPr>
        <p:txBody>
          <a:bodyPr wrap="square" lIns="0" tIns="0" rIns="0" bIns="0" rtlCol="0" anchor="t"/>
          <a:lstStyle/>
          <a:p>
            <a:pPr indent="0" marL="0">
              <a:buNone/>
            </a:pPr>
            <a:r>
              <a:rPr lang="en-US" sz="1400" b="1" dirty="0">
                <a:solidFill>
                  <a:schemeClr val="tx1"/>
                </a:solidFill>
              </a:rPr>
              <a:t>The lane, and why</a:t>
            </a:r>
            <a:endParaRPr lang="en-US" sz="1400" dirty="0"/>
          </a:p>
        </p:txBody>
      </p:sp>
      <p:sp>
        <p:nvSpPr>
          <p:cNvPr id="12" name="Text 8"/>
          <p:cNvSpPr txBox="1"/>
          <p:nvPr/>
        </p:nvSpPr>
        <p:spPr>
          <a:xfrm>
            <a:off x="3465576" y="2212848"/>
            <a:ext cx="2194560" cy="384048"/>
          </a:xfrm>
          <a:prstGeom prst="rect">
            <a:avLst/>
          </a:prstGeom>
          <a:noFill/>
          <a:ln/>
        </p:spPr>
        <p:txBody>
          <a:bodyPr wrap="square" lIns="0" tIns="0" rIns="0" bIns="0" rtlCol="0" anchor="t"/>
          <a:lstStyle/>
          <a:p>
            <a:pPr indent="0" marL="0">
              <a:buNone/>
            </a:pPr>
            <a:r>
              <a:rPr lang="en-US" sz="1100" dirty="0">
                <a:solidFill>
                  <a:schemeClr val="tx2"/>
                </a:solidFill>
              </a:rPr>
              <a:t>Green or review, explained in a sentence</a:t>
            </a:r>
            <a:endParaRPr lang="en-US" sz="1100" dirty="0"/>
          </a:p>
        </p:txBody>
      </p:sp>
      <p:sp>
        <p:nvSpPr>
          <p:cNvPr id="13" name="Checks and AI review"/>
          <p:cNvSpPr/>
          <p:nvPr/>
        </p:nvSpPr>
        <p:spPr>
          <a:xfrm>
            <a:off x="5980176" y="118872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4" name="Checks and AI review circle"/>
          <p:cNvSpPr/>
          <p:nvPr/>
        </p:nvSpPr>
        <p:spPr>
          <a:xfrm>
            <a:off x="6181344" y="1389888"/>
            <a:ext cx="457200" cy="457200"/>
          </a:xfrm>
          <a:prstGeom prst="ellipse">
            <a:avLst/>
          </a:prstGeom>
          <a:solidFill>
            <a:schemeClr val="accent4"/>
          </a:solidFill>
          <a:ln w="12700">
            <a:solidFill>
              <a:schemeClr val="accent4"/>
            </a:solidFill>
            <a:prstDash val="solid"/>
          </a:ln>
        </p:spPr>
      </p:sp>
      <p:pic>
        <p:nvPicPr>
          <p:cNvPr id="15" name="Checks and AI review" descr="preencoded.png">    </p:cNvPr>
          <p:cNvPicPr>
            <a:picLocks noChangeAspect="1"/>
          </p:cNvPicPr>
          <p:nvPr/>
        </p:nvPicPr>
        <p:blipFill>
          <a:blip r:embed="rId3"/>
          <a:stretch>
            <a:fillRect/>
          </a:stretch>
        </p:blipFill>
        <p:spPr>
          <a:xfrm>
            <a:off x="6304788" y="1513332"/>
            <a:ext cx="210312" cy="210312"/>
          </a:xfrm>
          <a:prstGeom prst="rect">
            <a:avLst/>
          </a:prstGeom>
        </p:spPr>
      </p:pic>
      <p:sp>
        <p:nvSpPr>
          <p:cNvPr id="16" name="Text 11"/>
          <p:cNvSpPr txBox="1"/>
          <p:nvPr/>
        </p:nvSpPr>
        <p:spPr>
          <a:xfrm>
            <a:off x="6181344" y="1938528"/>
            <a:ext cx="2194560" cy="274320"/>
          </a:xfrm>
          <a:prstGeom prst="rect">
            <a:avLst/>
          </a:prstGeom>
          <a:noFill/>
          <a:ln/>
        </p:spPr>
        <p:txBody>
          <a:bodyPr wrap="square" lIns="0" tIns="0" rIns="0" bIns="0" rtlCol="0" anchor="t"/>
          <a:lstStyle/>
          <a:p>
            <a:pPr indent="0" marL="0">
              <a:buNone/>
            </a:pPr>
            <a:r>
              <a:rPr lang="en-US" sz="1400" b="1" dirty="0">
                <a:solidFill>
                  <a:schemeClr val="tx1"/>
                </a:solidFill>
              </a:rPr>
              <a:t>Checks and AI review</a:t>
            </a:r>
            <a:endParaRPr lang="en-US" sz="1400" dirty="0"/>
          </a:p>
        </p:txBody>
      </p:sp>
      <p:sp>
        <p:nvSpPr>
          <p:cNvPr id="17" name="Text 12"/>
          <p:cNvSpPr txBox="1"/>
          <p:nvPr/>
        </p:nvSpPr>
        <p:spPr>
          <a:xfrm>
            <a:off x="6181344" y="2212848"/>
            <a:ext cx="2194560" cy="384048"/>
          </a:xfrm>
          <a:prstGeom prst="rect">
            <a:avLst/>
          </a:prstGeom>
          <a:noFill/>
          <a:ln/>
        </p:spPr>
        <p:txBody>
          <a:bodyPr wrap="square" lIns="0" tIns="0" rIns="0" bIns="0" rtlCol="0" anchor="t"/>
          <a:lstStyle/>
          <a:p>
            <a:pPr indent="0" marL="0">
              <a:buNone/>
            </a:pPr>
            <a:r>
              <a:rPr lang="en-US" sz="1100" dirty="0">
                <a:solidFill>
                  <a:schemeClr val="tx2"/>
                </a:solidFill>
              </a:rPr>
              <a:t>Each check ticks off as it passes</a:t>
            </a:r>
            <a:endParaRPr lang="en-US" sz="1100" dirty="0"/>
          </a:p>
        </p:txBody>
      </p:sp>
      <p:sp>
        <p:nvSpPr>
          <p:cNvPr id="18" name="Estimated cost"/>
          <p:cNvSpPr/>
          <p:nvPr/>
        </p:nvSpPr>
        <p:spPr>
          <a:xfrm>
            <a:off x="548640" y="2816352"/>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9" name="Estimated cost circle"/>
          <p:cNvSpPr/>
          <p:nvPr/>
        </p:nvSpPr>
        <p:spPr>
          <a:xfrm>
            <a:off x="749808" y="3017520"/>
            <a:ext cx="457200" cy="457200"/>
          </a:xfrm>
          <a:prstGeom prst="ellipse">
            <a:avLst/>
          </a:prstGeom>
          <a:solidFill>
            <a:schemeClr val="accent4"/>
          </a:solidFill>
          <a:ln w="12700">
            <a:solidFill>
              <a:schemeClr val="accent4"/>
            </a:solidFill>
            <a:prstDash val="solid"/>
          </a:ln>
        </p:spPr>
      </p:sp>
      <p:pic>
        <p:nvPicPr>
          <p:cNvPr id="20" name="Estimated cost" descr="preencoded.png">    </p:cNvPr>
          <p:cNvPicPr>
            <a:picLocks noChangeAspect="1"/>
          </p:cNvPicPr>
          <p:nvPr/>
        </p:nvPicPr>
        <p:blipFill>
          <a:blip r:embed="rId4"/>
          <a:stretch>
            <a:fillRect/>
          </a:stretch>
        </p:blipFill>
        <p:spPr>
          <a:xfrm>
            <a:off x="873252" y="3140964"/>
            <a:ext cx="210312" cy="210312"/>
          </a:xfrm>
          <a:prstGeom prst="rect">
            <a:avLst/>
          </a:prstGeom>
        </p:spPr>
      </p:pic>
      <p:sp>
        <p:nvSpPr>
          <p:cNvPr id="21" name="Text 15"/>
          <p:cNvSpPr txBox="1"/>
          <p:nvPr/>
        </p:nvSpPr>
        <p:spPr>
          <a:xfrm>
            <a:off x="749808" y="3566160"/>
            <a:ext cx="2194560" cy="274320"/>
          </a:xfrm>
          <a:prstGeom prst="rect">
            <a:avLst/>
          </a:prstGeom>
          <a:noFill/>
          <a:ln/>
        </p:spPr>
        <p:txBody>
          <a:bodyPr wrap="square" lIns="0" tIns="0" rIns="0" bIns="0" rtlCol="0" anchor="t"/>
          <a:lstStyle/>
          <a:p>
            <a:pPr indent="0" marL="0">
              <a:buNone/>
            </a:pPr>
            <a:r>
              <a:rPr lang="en-US" sz="1400" b="1" dirty="0">
                <a:solidFill>
                  <a:schemeClr val="tx1"/>
                </a:solidFill>
              </a:rPr>
              <a:t>Estimated cost</a:t>
            </a:r>
            <a:endParaRPr lang="en-US" sz="1400" dirty="0"/>
          </a:p>
        </p:txBody>
      </p:sp>
      <p:sp>
        <p:nvSpPr>
          <p:cNvPr id="22" name="Text 16"/>
          <p:cNvSpPr txBox="1"/>
          <p:nvPr/>
        </p:nvSpPr>
        <p:spPr>
          <a:xfrm>
            <a:off x="749808" y="3840480"/>
            <a:ext cx="2194560" cy="384048"/>
          </a:xfrm>
          <a:prstGeom prst="rect">
            <a:avLst/>
          </a:prstGeom>
          <a:noFill/>
          <a:ln/>
        </p:spPr>
        <p:txBody>
          <a:bodyPr wrap="square" lIns="0" tIns="0" rIns="0" bIns="0" rtlCol="0" anchor="t"/>
          <a:lstStyle/>
          <a:p>
            <a:pPr indent="0" marL="0">
              <a:buNone/>
            </a:pPr>
            <a:r>
              <a:rPr lang="en-US" sz="1100" dirty="0">
                <a:solidFill>
                  <a:schemeClr val="tx2"/>
                </a:solidFill>
              </a:rPr>
              <a:t>A rough guide; the real bill is in the admin console</a:t>
            </a:r>
            <a:endParaRPr lang="en-US" sz="1100" dirty="0"/>
          </a:p>
        </p:txBody>
      </p:sp>
      <p:sp>
        <p:nvSpPr>
          <p:cNvPr id="23" name="AI-authored record"/>
          <p:cNvSpPr/>
          <p:nvPr/>
        </p:nvSpPr>
        <p:spPr>
          <a:xfrm>
            <a:off x="3264408" y="2816352"/>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24" name="AI-authored record circle"/>
          <p:cNvSpPr/>
          <p:nvPr/>
        </p:nvSpPr>
        <p:spPr>
          <a:xfrm>
            <a:off x="3465576" y="3017520"/>
            <a:ext cx="457200" cy="457200"/>
          </a:xfrm>
          <a:prstGeom prst="ellipse">
            <a:avLst/>
          </a:prstGeom>
          <a:solidFill>
            <a:schemeClr val="accent4"/>
          </a:solidFill>
          <a:ln w="12700">
            <a:solidFill>
              <a:schemeClr val="accent4"/>
            </a:solidFill>
            <a:prstDash val="solid"/>
          </a:ln>
        </p:spPr>
      </p:sp>
      <p:pic>
        <p:nvPicPr>
          <p:cNvPr id="25" name="AI-authored record" descr="preencoded.png">    </p:cNvPr>
          <p:cNvPicPr>
            <a:picLocks noChangeAspect="1"/>
          </p:cNvPicPr>
          <p:nvPr/>
        </p:nvPicPr>
        <p:blipFill>
          <a:blip r:embed="rId5"/>
          <a:stretch>
            <a:fillRect/>
          </a:stretch>
        </p:blipFill>
        <p:spPr>
          <a:xfrm>
            <a:off x="3589020" y="3140964"/>
            <a:ext cx="210312" cy="210312"/>
          </a:xfrm>
          <a:prstGeom prst="rect">
            <a:avLst/>
          </a:prstGeom>
        </p:spPr>
      </p:pic>
      <p:sp>
        <p:nvSpPr>
          <p:cNvPr id="26" name="Text 19"/>
          <p:cNvSpPr txBox="1"/>
          <p:nvPr/>
        </p:nvSpPr>
        <p:spPr>
          <a:xfrm>
            <a:off x="3465576" y="3566160"/>
            <a:ext cx="2194560" cy="274320"/>
          </a:xfrm>
          <a:prstGeom prst="rect">
            <a:avLst/>
          </a:prstGeom>
          <a:noFill/>
          <a:ln/>
        </p:spPr>
        <p:txBody>
          <a:bodyPr wrap="square" lIns="0" tIns="0" rIns="0" bIns="0" rtlCol="0" anchor="t"/>
          <a:lstStyle/>
          <a:p>
            <a:pPr indent="0" marL="0">
              <a:buNone/>
            </a:pPr>
            <a:r>
              <a:rPr lang="en-US" sz="1400" b="1" dirty="0">
                <a:solidFill>
                  <a:schemeClr val="tx1"/>
                </a:solidFill>
              </a:rPr>
              <a:t>AI-authored record</a:t>
            </a:r>
            <a:endParaRPr lang="en-US" sz="1400" dirty="0"/>
          </a:p>
        </p:txBody>
      </p:sp>
      <p:sp>
        <p:nvSpPr>
          <p:cNvPr id="27" name="Text 20"/>
          <p:cNvSpPr txBox="1"/>
          <p:nvPr/>
        </p:nvSpPr>
        <p:spPr>
          <a:xfrm>
            <a:off x="3465576" y="3840480"/>
            <a:ext cx="2194560" cy="384048"/>
          </a:xfrm>
          <a:prstGeom prst="rect">
            <a:avLst/>
          </a:prstGeom>
          <a:noFill/>
          <a:ln/>
        </p:spPr>
        <p:txBody>
          <a:bodyPr wrap="square" lIns="0" tIns="0" rIns="0" bIns="0" rtlCol="0" anchor="t"/>
          <a:lstStyle/>
          <a:p>
            <a:pPr indent="0" marL="0">
              <a:buNone/>
            </a:pPr>
            <a:r>
              <a:rPr lang="en-US" sz="1100" dirty="0">
                <a:solidFill>
                  <a:schemeClr val="tx2"/>
                </a:solidFill>
              </a:rPr>
              <a:t>Who directed it and which model built it</a:t>
            </a:r>
            <a:endParaRPr lang="en-US" sz="1100" dirty="0"/>
          </a:p>
        </p:txBody>
      </p:sp>
      <p:sp>
        <p:nvSpPr>
          <p:cNvPr id="28" name="Live preview and screenshots"/>
          <p:cNvSpPr/>
          <p:nvPr/>
        </p:nvSpPr>
        <p:spPr>
          <a:xfrm>
            <a:off x="5980176" y="2816352"/>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29" name="Live preview and screenshots circle"/>
          <p:cNvSpPr/>
          <p:nvPr/>
        </p:nvSpPr>
        <p:spPr>
          <a:xfrm>
            <a:off x="6181344" y="3017520"/>
            <a:ext cx="457200" cy="457200"/>
          </a:xfrm>
          <a:prstGeom prst="ellipse">
            <a:avLst/>
          </a:prstGeom>
          <a:solidFill>
            <a:schemeClr val="accent4"/>
          </a:solidFill>
          <a:ln w="12700">
            <a:solidFill>
              <a:schemeClr val="accent4"/>
            </a:solidFill>
            <a:prstDash val="solid"/>
          </a:ln>
        </p:spPr>
      </p:sp>
      <p:pic>
        <p:nvPicPr>
          <p:cNvPr id="30" name="Live preview and screenshots" descr="preencoded.png">    </p:cNvPr>
          <p:cNvPicPr>
            <a:picLocks noChangeAspect="1"/>
          </p:cNvPicPr>
          <p:nvPr/>
        </p:nvPicPr>
        <p:blipFill>
          <a:blip r:embed="rId6"/>
          <a:stretch>
            <a:fillRect/>
          </a:stretch>
        </p:blipFill>
        <p:spPr>
          <a:xfrm>
            <a:off x="6304788" y="3140964"/>
            <a:ext cx="210312" cy="210312"/>
          </a:xfrm>
          <a:prstGeom prst="rect">
            <a:avLst/>
          </a:prstGeom>
        </p:spPr>
      </p:pic>
      <p:sp>
        <p:nvSpPr>
          <p:cNvPr id="31" name="Text 23"/>
          <p:cNvSpPr txBox="1"/>
          <p:nvPr/>
        </p:nvSpPr>
        <p:spPr>
          <a:xfrm>
            <a:off x="6181344" y="3566160"/>
            <a:ext cx="2194560" cy="274320"/>
          </a:xfrm>
          <a:prstGeom prst="rect">
            <a:avLst/>
          </a:prstGeom>
          <a:noFill/>
          <a:ln/>
        </p:spPr>
        <p:txBody>
          <a:bodyPr wrap="square" lIns="0" tIns="0" rIns="0" bIns="0" rtlCol="0" anchor="t"/>
          <a:lstStyle/>
          <a:p>
            <a:pPr indent="0" marL="0">
              <a:buNone/>
            </a:pPr>
            <a:r>
              <a:rPr lang="en-US" sz="1400" b="1" dirty="0">
                <a:solidFill>
                  <a:schemeClr val="tx1"/>
                </a:solidFill>
              </a:rPr>
              <a:t>Live preview and screenshots</a:t>
            </a:r>
            <a:endParaRPr lang="en-US" sz="1400" dirty="0"/>
          </a:p>
        </p:txBody>
      </p:sp>
      <p:sp>
        <p:nvSpPr>
          <p:cNvPr id="32" name="Text 24"/>
          <p:cNvSpPr txBox="1"/>
          <p:nvPr/>
        </p:nvSpPr>
        <p:spPr>
          <a:xfrm>
            <a:off x="6181344" y="3840480"/>
            <a:ext cx="2194560" cy="384048"/>
          </a:xfrm>
          <a:prstGeom prst="rect">
            <a:avLst/>
          </a:prstGeom>
          <a:noFill/>
          <a:ln/>
        </p:spPr>
        <p:txBody>
          <a:bodyPr wrap="square" lIns="0" tIns="0" rIns="0" bIns="0" rtlCol="0" anchor="t"/>
          <a:lstStyle/>
          <a:p>
            <a:pPr indent="0" marL="0">
              <a:buNone/>
            </a:pPr>
            <a:r>
              <a:rPr lang="en-US" sz="1100" dirty="0">
                <a:solidFill>
                  <a:schemeClr val="tx2"/>
                </a:solidFill>
              </a:rPr>
              <a:t>One button opens your change to try</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Live: the Deal one-pager</a:t>
            </a:r>
            <a:endParaRPr lang="en-US" sz="3000" dirty="0"/>
          </a:p>
        </p:txBody>
      </p:sp>
      <p:sp>
        <p:nvSpPr>
          <p:cNvPr id="3" name="prompt"/>
          <p:cNvSpPr/>
          <p:nvPr/>
        </p:nvSpPr>
        <p:spPr>
          <a:xfrm>
            <a:off x="548640" y="1188720"/>
            <a:ext cx="804672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pic>
        <p:nvPicPr>
          <p:cNvPr id="4" name="Image 0" descr="preencoded.png">    </p:cNvPr>
          <p:cNvPicPr>
            <a:picLocks noChangeAspect="1"/>
          </p:cNvPicPr>
          <p:nvPr/>
        </p:nvPicPr>
        <p:blipFill>
          <a:blip r:embed="rId1"/>
          <a:stretch>
            <a:fillRect/>
          </a:stretch>
        </p:blipFill>
        <p:spPr>
          <a:xfrm>
            <a:off x="822960" y="1417320"/>
            <a:ext cx="365760" cy="365760"/>
          </a:xfrm>
          <a:prstGeom prst="rect">
            <a:avLst/>
          </a:prstGeom>
        </p:spPr>
      </p:pic>
      <p:sp>
        <p:nvSpPr>
          <p:cNvPr id="5" name="Text 2"/>
          <p:cNvSpPr txBox="1"/>
          <p:nvPr/>
        </p:nvSpPr>
        <p:spPr>
          <a:xfrm>
            <a:off x="1417320" y="1371600"/>
            <a:ext cx="6949440" cy="1280160"/>
          </a:xfrm>
          <a:prstGeom prst="rect">
            <a:avLst/>
          </a:prstGeom>
          <a:noFill/>
          <a:ln/>
        </p:spPr>
        <p:txBody>
          <a:bodyPr wrap="square" lIns="0" tIns="0" rIns="0" bIns="0" rtlCol="0" anchor="ctr"/>
          <a:lstStyle/>
          <a:p>
            <a:pPr indent="0" marL="0">
              <a:buNone/>
            </a:pPr>
            <a:r>
              <a:rPr lang="en-US" sz="1600" i="1" dirty="0">
                <a:solidFill>
                  <a:schemeClr val="tx1"/>
                </a:solidFill>
                <a:latin typeface="Georgia" pitchFamily="34" charset="0"/>
                <a:ea typeface="Georgia" pitchFamily="34" charset="-122"/>
                <a:cs typeface="Georgia" pitchFamily="34" charset="-120"/>
              </a:rPr>
              <a:t>A new tab on each deal that summarises it on one page for IC: borrower and sponsor, stage, facility and hold, leverage, cushion, spread, open red flags and the latest note.</a:t>
            </a:r>
            <a:endParaRPr lang="en-US" sz="1600" dirty="0"/>
          </a:p>
        </p:txBody>
      </p:sp>
      <p:sp>
        <p:nvSpPr>
          <p:cNvPr id="6" name="Text 3"/>
          <p:cNvSpPr txBox="1"/>
          <p:nvPr/>
        </p:nvSpPr>
        <p:spPr>
          <a:xfrm>
            <a:off x="548640" y="3063240"/>
            <a:ext cx="2743200" cy="274320"/>
          </a:xfrm>
          <a:prstGeom prst="rect">
            <a:avLst/>
          </a:prstGeom>
          <a:noFill/>
          <a:ln/>
        </p:spPr>
        <p:txBody>
          <a:bodyPr wrap="square" lIns="0" tIns="0" rIns="0" bIns="0" rtlCol="0" anchor="t"/>
          <a:lstStyle/>
          <a:p>
            <a:pPr indent="0" marL="0">
              <a:buNone/>
            </a:pPr>
            <a:r>
              <a:rPr lang="en-US" sz="1300" b="1" dirty="0">
                <a:solidFill>
                  <a:schemeClr val="accent3"/>
                </a:solidFill>
              </a:rPr>
              <a:t>Watch for</a:t>
            </a:r>
            <a:endParaRPr lang="en-US" sz="1300" dirty="0"/>
          </a:p>
        </p:txBody>
      </p:sp>
      <p:sp>
        <p:nvSpPr>
          <p:cNvPr id="7" name="step 1"/>
          <p:cNvSpPr/>
          <p:nvPr/>
        </p:nvSpPr>
        <p:spPr>
          <a:xfrm>
            <a:off x="548640" y="3474720"/>
            <a:ext cx="411480" cy="411480"/>
          </a:xfrm>
          <a:prstGeom prst="ellipse">
            <a:avLst/>
          </a:prstGeom>
          <a:solidFill>
            <a:schemeClr val="accent1"/>
          </a:solidFill>
          <a:ln w="12700">
            <a:solidFill>
              <a:schemeClr val="accent1"/>
            </a:solidFill>
            <a:prstDash val="solid"/>
          </a:ln>
        </p:spPr>
      </p:sp>
      <p:sp>
        <p:nvSpPr>
          <p:cNvPr id="8" name="Text 5"/>
          <p:cNvSpPr txBox="1"/>
          <p:nvPr/>
        </p:nvSpPr>
        <p:spPr>
          <a:xfrm>
            <a:off x="548640"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1</a:t>
            </a:r>
            <a:endParaRPr lang="en-US" sz="1400" dirty="0"/>
          </a:p>
        </p:txBody>
      </p:sp>
      <p:sp>
        <p:nvSpPr>
          <p:cNvPr id="9" name="Text 6"/>
          <p:cNvSpPr txBox="1"/>
          <p:nvPr/>
        </p:nvSpPr>
        <p:spPr>
          <a:xfrm>
            <a:off x="1051560" y="3474720"/>
            <a:ext cx="1051560" cy="411480"/>
          </a:xfrm>
          <a:prstGeom prst="rect">
            <a:avLst/>
          </a:prstGeom>
          <a:noFill/>
          <a:ln/>
        </p:spPr>
        <p:txBody>
          <a:bodyPr wrap="square" lIns="0" tIns="0" rIns="0" bIns="0" rtlCol="0" anchor="ctr"/>
          <a:lstStyle/>
          <a:p>
            <a:pPr indent="0" marL="0">
              <a:buNone/>
            </a:pPr>
            <a:r>
              <a:rPr lang="en-US" sz="1300" b="1" dirty="0">
                <a:solidFill>
                  <a:schemeClr val="tx1"/>
                </a:solidFill>
              </a:rPr>
              <a:t>The plan</a:t>
            </a:r>
            <a:endParaRPr lang="en-US" sz="1300" dirty="0"/>
          </a:p>
        </p:txBody>
      </p:sp>
      <p:sp>
        <p:nvSpPr>
          <p:cNvPr id="10" name="step 2"/>
          <p:cNvSpPr/>
          <p:nvPr/>
        </p:nvSpPr>
        <p:spPr>
          <a:xfrm>
            <a:off x="2176272" y="347472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2176272"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2</a:t>
            </a:r>
            <a:endParaRPr lang="en-US" sz="1400" dirty="0"/>
          </a:p>
        </p:txBody>
      </p:sp>
      <p:sp>
        <p:nvSpPr>
          <p:cNvPr id="12" name="Text 9"/>
          <p:cNvSpPr txBox="1"/>
          <p:nvPr/>
        </p:nvSpPr>
        <p:spPr>
          <a:xfrm>
            <a:off x="2679192" y="3474720"/>
            <a:ext cx="1051560" cy="411480"/>
          </a:xfrm>
          <a:prstGeom prst="rect">
            <a:avLst/>
          </a:prstGeom>
          <a:noFill/>
          <a:ln/>
        </p:spPr>
        <p:txBody>
          <a:bodyPr wrap="square" lIns="0" tIns="0" rIns="0" bIns="0" rtlCol="0" anchor="ctr"/>
          <a:lstStyle/>
          <a:p>
            <a:pPr indent="0" marL="0">
              <a:buNone/>
            </a:pPr>
            <a:r>
              <a:rPr lang="en-US" sz="1300" b="1" dirty="0">
                <a:solidFill>
                  <a:schemeClr val="tx1"/>
                </a:solidFill>
              </a:rPr>
              <a:t>The preview</a:t>
            </a:r>
            <a:endParaRPr lang="en-US" sz="1300" dirty="0"/>
          </a:p>
        </p:txBody>
      </p:sp>
      <p:sp>
        <p:nvSpPr>
          <p:cNvPr id="13" name="step 3"/>
          <p:cNvSpPr/>
          <p:nvPr/>
        </p:nvSpPr>
        <p:spPr>
          <a:xfrm>
            <a:off x="3803904" y="3474720"/>
            <a:ext cx="411480" cy="411480"/>
          </a:xfrm>
          <a:prstGeom prst="ellipse">
            <a:avLst/>
          </a:prstGeom>
          <a:solidFill>
            <a:schemeClr val="accent1"/>
          </a:solidFill>
          <a:ln w="12700">
            <a:solidFill>
              <a:schemeClr val="accent1"/>
            </a:solidFill>
            <a:prstDash val="solid"/>
          </a:ln>
        </p:spPr>
      </p:sp>
      <p:sp>
        <p:nvSpPr>
          <p:cNvPr id="14" name="Text 11"/>
          <p:cNvSpPr txBox="1"/>
          <p:nvPr/>
        </p:nvSpPr>
        <p:spPr>
          <a:xfrm>
            <a:off x="3803904"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3</a:t>
            </a:r>
            <a:endParaRPr lang="en-US" sz="1400" dirty="0"/>
          </a:p>
        </p:txBody>
      </p:sp>
      <p:sp>
        <p:nvSpPr>
          <p:cNvPr id="15" name="Text 12"/>
          <p:cNvSpPr txBox="1"/>
          <p:nvPr/>
        </p:nvSpPr>
        <p:spPr>
          <a:xfrm>
            <a:off x="4306824" y="3474720"/>
            <a:ext cx="1051560" cy="411480"/>
          </a:xfrm>
          <a:prstGeom prst="rect">
            <a:avLst/>
          </a:prstGeom>
          <a:noFill/>
          <a:ln/>
        </p:spPr>
        <p:txBody>
          <a:bodyPr wrap="square" lIns="0" tIns="0" rIns="0" bIns="0" rtlCol="0" anchor="ctr"/>
          <a:lstStyle/>
          <a:p>
            <a:pPr indent="0" marL="0">
              <a:buNone/>
            </a:pPr>
            <a:r>
              <a:rPr lang="en-US" sz="1300" b="1" dirty="0">
                <a:solidFill>
                  <a:schemeClr val="tx1"/>
                </a:solidFill>
              </a:rPr>
              <a:t>Ship it</a:t>
            </a:r>
            <a:endParaRPr lang="en-US" sz="1300" dirty="0"/>
          </a:p>
        </p:txBody>
      </p:sp>
      <p:sp>
        <p:nvSpPr>
          <p:cNvPr id="16" name="step 4"/>
          <p:cNvSpPr/>
          <p:nvPr/>
        </p:nvSpPr>
        <p:spPr>
          <a:xfrm>
            <a:off x="5431536" y="3474720"/>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5431536"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4</a:t>
            </a:r>
            <a:endParaRPr lang="en-US" sz="1400" dirty="0"/>
          </a:p>
        </p:txBody>
      </p:sp>
      <p:sp>
        <p:nvSpPr>
          <p:cNvPr id="18" name="Text 15"/>
          <p:cNvSpPr txBox="1"/>
          <p:nvPr/>
        </p:nvSpPr>
        <p:spPr>
          <a:xfrm>
            <a:off x="5934456" y="3474720"/>
            <a:ext cx="1051560" cy="411480"/>
          </a:xfrm>
          <a:prstGeom prst="rect">
            <a:avLst/>
          </a:prstGeom>
          <a:noFill/>
          <a:ln/>
        </p:spPr>
        <p:txBody>
          <a:bodyPr wrap="square" lIns="0" tIns="0" rIns="0" bIns="0" rtlCol="0" anchor="ctr"/>
          <a:lstStyle/>
          <a:p>
            <a:pPr indent="0" marL="0">
              <a:buNone/>
            </a:pPr>
            <a:r>
              <a:rPr lang="en-US" sz="1300" b="1" dirty="0">
                <a:solidFill>
                  <a:schemeClr val="tx1"/>
                </a:solidFill>
              </a:rPr>
              <a:t>The green lane</a:t>
            </a:r>
            <a:endParaRPr lang="en-US" sz="1300" dirty="0"/>
          </a:p>
        </p:txBody>
      </p:sp>
      <p:sp>
        <p:nvSpPr>
          <p:cNvPr id="19" name="step 5"/>
          <p:cNvSpPr/>
          <p:nvPr/>
        </p:nvSpPr>
        <p:spPr>
          <a:xfrm>
            <a:off x="7059168" y="3474720"/>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7059168"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5</a:t>
            </a:r>
            <a:endParaRPr lang="en-US" sz="1400" dirty="0"/>
          </a:p>
        </p:txBody>
      </p:sp>
      <p:sp>
        <p:nvSpPr>
          <p:cNvPr id="21" name="Text 18"/>
          <p:cNvSpPr txBox="1"/>
          <p:nvPr/>
        </p:nvSpPr>
        <p:spPr>
          <a:xfrm>
            <a:off x="7562088" y="3474720"/>
            <a:ext cx="1051560" cy="411480"/>
          </a:xfrm>
          <a:prstGeom prst="rect">
            <a:avLst/>
          </a:prstGeom>
          <a:noFill/>
          <a:ln/>
        </p:spPr>
        <p:txBody>
          <a:bodyPr wrap="square" lIns="0" tIns="0" rIns="0" bIns="0" rtlCol="0" anchor="ctr"/>
          <a:lstStyle/>
          <a:p>
            <a:pPr indent="0" marL="0">
              <a:buNone/>
            </a:pPr>
            <a:r>
              <a:rPr lang="en-US" sz="1300" b="1" dirty="0">
                <a:solidFill>
                  <a:schemeClr val="tx1"/>
                </a:solidFill>
              </a:rPr>
              <a:t>The approval</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Live: a change to the engine</a:t>
            </a:r>
            <a:endParaRPr lang="en-US" sz="3000" dirty="0"/>
          </a:p>
        </p:txBody>
      </p:sp>
      <p:sp>
        <p:nvSpPr>
          <p:cNvPr id="3" name="prompt"/>
          <p:cNvSpPr/>
          <p:nvPr/>
        </p:nvSpPr>
        <p:spPr>
          <a:xfrm>
            <a:off x="548640" y="1188720"/>
            <a:ext cx="8046720" cy="1005840"/>
          </a:xfrm>
          <a:prstGeom prst="roundRect">
            <a:avLst>
              <a:gd name="adj" fmla="val 7273"/>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pic>
        <p:nvPicPr>
          <p:cNvPr id="4" name="Image 0" descr="preencoded.png">    </p:cNvPr>
          <p:cNvPicPr>
            <a:picLocks noChangeAspect="1"/>
          </p:cNvPicPr>
          <p:nvPr/>
        </p:nvPicPr>
        <p:blipFill>
          <a:blip r:embed="rId1"/>
          <a:stretch>
            <a:fillRect/>
          </a:stretch>
        </p:blipFill>
        <p:spPr>
          <a:xfrm>
            <a:off x="822960" y="1481328"/>
            <a:ext cx="365760" cy="365760"/>
          </a:xfrm>
          <a:prstGeom prst="rect">
            <a:avLst/>
          </a:prstGeom>
        </p:spPr>
      </p:pic>
      <p:sp>
        <p:nvSpPr>
          <p:cNvPr id="5" name="Text 2"/>
          <p:cNvSpPr txBox="1"/>
          <p:nvPr/>
        </p:nvSpPr>
        <p:spPr>
          <a:xfrm>
            <a:off x="1417320" y="1188720"/>
            <a:ext cx="6949440" cy="1005840"/>
          </a:xfrm>
          <a:prstGeom prst="rect">
            <a:avLst/>
          </a:prstGeom>
          <a:noFill/>
          <a:ln/>
        </p:spPr>
        <p:txBody>
          <a:bodyPr wrap="square" lIns="0" tIns="0" rIns="0" bIns="0" rtlCol="0" anchor="ctr"/>
          <a:lstStyle/>
          <a:p>
            <a:pPr indent="0" marL="0">
              <a:buNone/>
            </a:pPr>
            <a:r>
              <a:rPr lang="en-US" sz="1800" i="1" dirty="0">
                <a:solidFill>
                  <a:schemeClr val="tx1"/>
                </a:solidFill>
                <a:latin typeface="Georgia" pitchFamily="34" charset="0"/>
                <a:ea typeface="Georgia" pitchFamily="34" charset="-122"/>
                <a:cs typeface="Georgia" pitchFamily="34" charset="-120"/>
              </a:rPr>
              <a:t>Can you change the leverage calculation to include the revolver?</a:t>
            </a:r>
            <a:endParaRPr lang="en-US" sz="1800" dirty="0"/>
          </a:p>
        </p:txBody>
      </p:sp>
      <p:sp>
        <p:nvSpPr>
          <p:cNvPr id="6" name="Claude explains"/>
          <p:cNvSpPr/>
          <p:nvPr/>
        </p:nvSpPr>
        <p:spPr>
          <a:xfrm>
            <a:off x="548640" y="2514600"/>
            <a:ext cx="2560320" cy="1783080"/>
          </a:xfrm>
          <a:prstGeom prst="roundRect">
            <a:avLst>
              <a:gd name="adj" fmla="val 4103"/>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7" name="Claude explains circle"/>
          <p:cNvSpPr/>
          <p:nvPr/>
        </p:nvSpPr>
        <p:spPr>
          <a:xfrm>
            <a:off x="777240" y="2743200"/>
            <a:ext cx="502920" cy="502920"/>
          </a:xfrm>
          <a:prstGeom prst="ellipse">
            <a:avLst/>
          </a:prstGeom>
          <a:solidFill>
            <a:schemeClr val="tx1"/>
          </a:solidFill>
          <a:ln w="12700">
            <a:solidFill>
              <a:schemeClr val="tx1"/>
            </a:solidFill>
            <a:prstDash val="solid"/>
          </a:ln>
        </p:spPr>
      </p:sp>
      <p:pic>
        <p:nvPicPr>
          <p:cNvPr id="8" name="Claude explains" descr="preencoded.png">    </p:cNvPr>
          <p:cNvPicPr>
            <a:picLocks noChangeAspect="1"/>
          </p:cNvPicPr>
          <p:nvPr/>
        </p:nvPicPr>
        <p:blipFill>
          <a:blip r:embed="rId2"/>
          <a:stretch>
            <a:fillRect/>
          </a:stretch>
        </p:blipFill>
        <p:spPr>
          <a:xfrm>
            <a:off x="913028" y="2878988"/>
            <a:ext cx="231343" cy="231343"/>
          </a:xfrm>
          <a:prstGeom prst="rect">
            <a:avLst/>
          </a:prstGeom>
        </p:spPr>
      </p:pic>
      <p:sp>
        <p:nvSpPr>
          <p:cNvPr id="9" name="Text 5"/>
          <p:cNvSpPr txBox="1"/>
          <p:nvPr/>
        </p:nvSpPr>
        <p:spPr>
          <a:xfrm>
            <a:off x="777240" y="3383280"/>
            <a:ext cx="2148840" cy="274320"/>
          </a:xfrm>
          <a:prstGeom prst="rect">
            <a:avLst/>
          </a:prstGeom>
          <a:noFill/>
          <a:ln/>
        </p:spPr>
        <p:txBody>
          <a:bodyPr wrap="square" lIns="0" tIns="0" rIns="0" bIns="0" rtlCol="0" anchor="t"/>
          <a:lstStyle/>
          <a:p>
            <a:pPr indent="0" marL="0">
              <a:buNone/>
            </a:pPr>
            <a:r>
              <a:rPr lang="en-US" sz="1500" b="1" dirty="0">
                <a:solidFill>
                  <a:schemeClr val="tx1"/>
                </a:solidFill>
              </a:rPr>
              <a:t>Claude explains</a:t>
            </a:r>
            <a:endParaRPr lang="en-US" sz="1500" dirty="0"/>
          </a:p>
        </p:txBody>
      </p:sp>
      <p:sp>
        <p:nvSpPr>
          <p:cNvPr id="10" name="Text 6"/>
          <p:cNvSpPr txBox="1"/>
          <p:nvPr/>
        </p:nvSpPr>
        <p:spPr>
          <a:xfrm>
            <a:off x="777240" y="3685032"/>
            <a:ext cx="2148840" cy="548640"/>
          </a:xfrm>
          <a:prstGeom prst="rect">
            <a:avLst/>
          </a:prstGeom>
          <a:noFill/>
          <a:ln/>
        </p:spPr>
        <p:txBody>
          <a:bodyPr wrap="square" lIns="0" tIns="0" rIns="0" bIns="0" rtlCol="0" anchor="t"/>
          <a:lstStyle/>
          <a:p>
            <a:pPr indent="0" marL="0">
              <a:buNone/>
            </a:pPr>
            <a:r>
              <a:rPr lang="en-US" sz="1200" dirty="0">
                <a:solidFill>
                  <a:schemeClr val="tx2"/>
                </a:solidFill>
              </a:rPr>
              <a:t>It's a calculation, so an engineer must review it</a:t>
            </a:r>
            <a:endParaRPr lang="en-US" sz="1200" dirty="0"/>
          </a:p>
        </p:txBody>
      </p:sp>
      <p:pic>
        <p:nvPicPr>
          <p:cNvPr id="11" name="Image 2" descr="preencoded.png">    </p:cNvPr>
          <p:cNvPicPr>
            <a:picLocks noChangeAspect="1"/>
          </p:cNvPicPr>
          <p:nvPr/>
        </p:nvPicPr>
        <p:blipFill>
          <a:blip r:embed="rId3"/>
          <a:stretch>
            <a:fillRect/>
          </a:stretch>
        </p:blipFill>
        <p:spPr>
          <a:xfrm>
            <a:off x="3145536" y="3291840"/>
            <a:ext cx="109728" cy="219456"/>
          </a:xfrm>
          <a:prstGeom prst="rect">
            <a:avLst/>
          </a:prstGeom>
        </p:spPr>
      </p:pic>
      <p:sp>
        <p:nvSpPr>
          <p:cNvPr id="12" name="It offers a request"/>
          <p:cNvSpPr/>
          <p:nvPr/>
        </p:nvSpPr>
        <p:spPr>
          <a:xfrm>
            <a:off x="3291840" y="2514600"/>
            <a:ext cx="2560320" cy="1783080"/>
          </a:xfrm>
          <a:prstGeom prst="roundRect">
            <a:avLst>
              <a:gd name="adj" fmla="val 4103"/>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3" name="It offers a request circle"/>
          <p:cNvSpPr/>
          <p:nvPr/>
        </p:nvSpPr>
        <p:spPr>
          <a:xfrm>
            <a:off x="3520440" y="2743200"/>
            <a:ext cx="502920" cy="502920"/>
          </a:xfrm>
          <a:prstGeom prst="ellipse">
            <a:avLst/>
          </a:prstGeom>
          <a:solidFill>
            <a:schemeClr val="tx1"/>
          </a:solidFill>
          <a:ln w="12700">
            <a:solidFill>
              <a:schemeClr val="tx1"/>
            </a:solidFill>
            <a:prstDash val="solid"/>
          </a:ln>
        </p:spPr>
      </p:sp>
      <p:pic>
        <p:nvPicPr>
          <p:cNvPr id="14" name="It offers a request" descr="preencoded.png">    </p:cNvPr>
          <p:cNvPicPr>
            <a:picLocks noChangeAspect="1"/>
          </p:cNvPicPr>
          <p:nvPr/>
        </p:nvPicPr>
        <p:blipFill>
          <a:blip r:embed="rId4"/>
          <a:stretch>
            <a:fillRect/>
          </a:stretch>
        </p:blipFill>
        <p:spPr>
          <a:xfrm>
            <a:off x="3656228" y="2878988"/>
            <a:ext cx="231343" cy="231343"/>
          </a:xfrm>
          <a:prstGeom prst="rect">
            <a:avLst/>
          </a:prstGeom>
        </p:spPr>
      </p:pic>
      <p:sp>
        <p:nvSpPr>
          <p:cNvPr id="15" name="Text 9"/>
          <p:cNvSpPr txBox="1"/>
          <p:nvPr/>
        </p:nvSpPr>
        <p:spPr>
          <a:xfrm>
            <a:off x="3520440" y="3383280"/>
            <a:ext cx="2148840" cy="274320"/>
          </a:xfrm>
          <a:prstGeom prst="rect">
            <a:avLst/>
          </a:prstGeom>
          <a:noFill/>
          <a:ln/>
        </p:spPr>
        <p:txBody>
          <a:bodyPr wrap="square" lIns="0" tIns="0" rIns="0" bIns="0" rtlCol="0" anchor="t"/>
          <a:lstStyle/>
          <a:p>
            <a:pPr indent="0" marL="0">
              <a:buNone/>
            </a:pPr>
            <a:r>
              <a:rPr lang="en-US" sz="1500" b="1" dirty="0">
                <a:solidFill>
                  <a:schemeClr val="tx1"/>
                </a:solidFill>
              </a:rPr>
              <a:t>It offers a request</a:t>
            </a:r>
            <a:endParaRPr lang="en-US" sz="1500" dirty="0"/>
          </a:p>
        </p:txBody>
      </p:sp>
      <p:sp>
        <p:nvSpPr>
          <p:cNvPr id="16" name="Text 10"/>
          <p:cNvSpPr txBox="1"/>
          <p:nvPr/>
        </p:nvSpPr>
        <p:spPr>
          <a:xfrm>
            <a:off x="3520440" y="3685032"/>
            <a:ext cx="2148840" cy="548640"/>
          </a:xfrm>
          <a:prstGeom prst="rect">
            <a:avLst/>
          </a:prstGeom>
          <a:noFill/>
          <a:ln/>
        </p:spPr>
        <p:txBody>
          <a:bodyPr wrap="square" lIns="0" tIns="0" rIns="0" bIns="0" rtlCol="0" anchor="t"/>
          <a:lstStyle/>
          <a:p>
            <a:pPr indent="0" marL="0">
              <a:buNone/>
            </a:pPr>
            <a:r>
              <a:rPr lang="en-US" sz="1200" dirty="0">
                <a:solidFill>
                  <a:schemeClr val="tx2"/>
                </a:solidFill>
              </a:rPr>
              <a:t>It drafts an engineering request for you to confirm</a:t>
            </a:r>
            <a:endParaRPr lang="en-US" sz="1200" dirty="0"/>
          </a:p>
        </p:txBody>
      </p:sp>
      <p:pic>
        <p:nvPicPr>
          <p:cNvPr id="17" name="Image 4" descr="preencoded.png">    </p:cNvPr>
          <p:cNvPicPr>
            <a:picLocks noChangeAspect="1"/>
          </p:cNvPicPr>
          <p:nvPr/>
        </p:nvPicPr>
        <p:blipFill>
          <a:blip r:embed="rId5"/>
          <a:stretch>
            <a:fillRect/>
          </a:stretch>
        </p:blipFill>
        <p:spPr>
          <a:xfrm>
            <a:off x="5888736" y="3291840"/>
            <a:ext cx="109728" cy="219456"/>
          </a:xfrm>
          <a:prstGeom prst="rect">
            <a:avLst/>
          </a:prstGeom>
        </p:spPr>
      </p:pic>
      <p:sp>
        <p:nvSpPr>
          <p:cNvPr id="18" name="Review lane"/>
          <p:cNvSpPr/>
          <p:nvPr/>
        </p:nvSpPr>
        <p:spPr>
          <a:xfrm>
            <a:off x="6035040" y="2514600"/>
            <a:ext cx="2560320" cy="1783080"/>
          </a:xfrm>
          <a:prstGeom prst="roundRect">
            <a:avLst>
              <a:gd name="adj" fmla="val 4103"/>
            </a:avLst>
          </a:prstGeom>
          <a:solidFill>
            <a:schemeClr val="accent4"/>
          </a:solidFill>
          <a:ln w="12700">
            <a:solidFill>
              <a:schemeClr val="accent4"/>
            </a:solidFill>
            <a:prstDash val="solid"/>
          </a:ln>
          <a:effectLst>
            <a:outerShdw sx="100000" sy="100000" kx="0" ky="0" algn="bl" rotWithShape="0" blurRad="76200" dist="25400" dir="5400000">
              <a:srgbClr val="000000">
                <a:alpha val="8000"/>
              </a:srgbClr>
            </a:outerShdw>
          </a:effectLst>
        </p:spPr>
      </p:sp>
      <p:sp>
        <p:nvSpPr>
          <p:cNvPr id="19" name="Review lane circle"/>
          <p:cNvSpPr/>
          <p:nvPr/>
        </p:nvSpPr>
        <p:spPr>
          <a:xfrm>
            <a:off x="6263640" y="2743200"/>
            <a:ext cx="502920" cy="502920"/>
          </a:xfrm>
          <a:prstGeom prst="ellipse">
            <a:avLst/>
          </a:prstGeom>
          <a:solidFill>
            <a:schemeClr val="accent1"/>
          </a:solidFill>
          <a:ln w="12700">
            <a:solidFill>
              <a:schemeClr val="accent1"/>
            </a:solidFill>
            <a:prstDash val="solid"/>
          </a:ln>
        </p:spPr>
      </p:sp>
      <p:pic>
        <p:nvPicPr>
          <p:cNvPr id="20" name="Review lane" descr="preencoded.png">    </p:cNvPr>
          <p:cNvPicPr>
            <a:picLocks noChangeAspect="1"/>
          </p:cNvPicPr>
          <p:nvPr/>
        </p:nvPicPr>
        <p:blipFill>
          <a:blip r:embed="rId6"/>
          <a:stretch>
            <a:fillRect/>
          </a:stretch>
        </p:blipFill>
        <p:spPr>
          <a:xfrm>
            <a:off x="6399428" y="2878988"/>
            <a:ext cx="231343" cy="231343"/>
          </a:xfrm>
          <a:prstGeom prst="rect">
            <a:avLst/>
          </a:prstGeom>
        </p:spPr>
      </p:pic>
      <p:sp>
        <p:nvSpPr>
          <p:cNvPr id="21" name="Text 13"/>
          <p:cNvSpPr txBox="1"/>
          <p:nvPr/>
        </p:nvSpPr>
        <p:spPr>
          <a:xfrm>
            <a:off x="6263640" y="3383280"/>
            <a:ext cx="2148840" cy="274320"/>
          </a:xfrm>
          <a:prstGeom prst="rect">
            <a:avLst/>
          </a:prstGeom>
          <a:noFill/>
          <a:ln/>
        </p:spPr>
        <p:txBody>
          <a:bodyPr wrap="square" lIns="0" tIns="0" rIns="0" bIns="0" rtlCol="0" anchor="t"/>
          <a:lstStyle/>
          <a:p>
            <a:pPr indent="0" marL="0">
              <a:buNone/>
            </a:pPr>
            <a:r>
              <a:rPr lang="en-US" sz="1500" b="1" dirty="0">
                <a:solidFill>
                  <a:schemeClr val="tx1"/>
                </a:solidFill>
              </a:rPr>
              <a:t>Review lane</a:t>
            </a:r>
            <a:endParaRPr lang="en-US" sz="1500" dirty="0"/>
          </a:p>
        </p:txBody>
      </p:sp>
      <p:sp>
        <p:nvSpPr>
          <p:cNvPr id="22" name="Text 14"/>
          <p:cNvSpPr txBox="1"/>
          <p:nvPr/>
        </p:nvSpPr>
        <p:spPr>
          <a:xfrm>
            <a:off x="6263640" y="3685032"/>
            <a:ext cx="2148840" cy="548640"/>
          </a:xfrm>
          <a:prstGeom prst="rect">
            <a:avLst/>
          </a:prstGeom>
          <a:noFill/>
          <a:ln/>
        </p:spPr>
        <p:txBody>
          <a:bodyPr wrap="square" lIns="0" tIns="0" rIns="0" bIns="0" rtlCol="0" anchor="t"/>
          <a:lstStyle/>
          <a:p>
            <a:pPr indent="0" marL="0">
              <a:buNone/>
            </a:pPr>
            <a:r>
              <a:rPr lang="en-US" sz="1200" dirty="0">
                <a:solidFill>
                  <a:schemeClr val="tx2"/>
                </a:solidFill>
              </a:rPr>
              <a:t>Any change like this goes to an engineer first</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The four phrases</a:t>
            </a:r>
            <a:endParaRPr lang="en-US" sz="3000" dirty="0"/>
          </a:p>
        </p:txBody>
      </p:sp>
      <p:sp>
        <p:nvSpPr>
          <p:cNvPr id="3" name="Describe it"/>
          <p:cNvSpPr/>
          <p:nvPr/>
        </p:nvSpPr>
        <p:spPr>
          <a:xfrm>
            <a:off x="548640" y="1234440"/>
            <a:ext cx="1874520" cy="30632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4" name="Describe it circle"/>
          <p:cNvSpPr/>
          <p:nvPr/>
        </p:nvSpPr>
        <p:spPr>
          <a:xfrm>
            <a:off x="777240" y="1508760"/>
            <a:ext cx="594360" cy="594360"/>
          </a:xfrm>
          <a:prstGeom prst="ellipse">
            <a:avLst/>
          </a:prstGeom>
          <a:solidFill>
            <a:schemeClr val="accent1"/>
          </a:solidFill>
          <a:ln w="12700">
            <a:solidFill>
              <a:schemeClr val="accent1"/>
            </a:solidFill>
            <a:prstDash val="solid"/>
          </a:ln>
        </p:spPr>
      </p:sp>
      <p:pic>
        <p:nvPicPr>
          <p:cNvPr id="5" name="Describe it" descr="preencoded.png">    </p:cNvPr>
          <p:cNvPicPr>
            <a:picLocks noChangeAspect="1"/>
          </p:cNvPicPr>
          <p:nvPr/>
        </p:nvPicPr>
        <p:blipFill>
          <a:blip r:embed="rId1"/>
          <a:stretch>
            <a:fillRect/>
          </a:stretch>
        </p:blipFill>
        <p:spPr>
          <a:xfrm>
            <a:off x="937717" y="1669237"/>
            <a:ext cx="273406" cy="273406"/>
          </a:xfrm>
          <a:prstGeom prst="rect">
            <a:avLst/>
          </a:prstGeom>
        </p:spPr>
      </p:pic>
      <p:sp>
        <p:nvSpPr>
          <p:cNvPr id="6" name="Text 3"/>
          <p:cNvSpPr txBox="1"/>
          <p:nvPr/>
        </p:nvSpPr>
        <p:spPr>
          <a:xfrm>
            <a:off x="777240" y="2331720"/>
            <a:ext cx="1463040" cy="1051560"/>
          </a:xfrm>
          <a:prstGeom prst="rect">
            <a:avLst/>
          </a:prstGeom>
          <a:noFill/>
          <a:ln/>
        </p:spPr>
        <p:txBody>
          <a:bodyPr wrap="square" lIns="0" tIns="0" rIns="0" bIns="0" rtlCol="0" anchor="t"/>
          <a:lstStyle/>
          <a:p>
            <a:pPr indent="0" marL="0">
              <a:buNone/>
            </a:pPr>
            <a:r>
              <a:rPr lang="en-US" sz="1600" b="1" dirty="0">
                <a:solidFill>
                  <a:schemeClr val="tx1"/>
                </a:solidFill>
                <a:latin typeface="Georgia" pitchFamily="34" charset="0"/>
                <a:ea typeface="Georgia" pitchFamily="34" charset="-122"/>
                <a:cs typeface="Georgia" pitchFamily="34" charset="-120"/>
              </a:rPr>
              <a:t>Describe it</a:t>
            </a:r>
            <a:endParaRPr lang="en-US" sz="1600" dirty="0"/>
          </a:p>
        </p:txBody>
      </p:sp>
      <p:sp>
        <p:nvSpPr>
          <p:cNvPr id="7" name="Text 4"/>
          <p:cNvSpPr txBox="1"/>
          <p:nvPr/>
        </p:nvSpPr>
        <p:spPr>
          <a:xfrm>
            <a:off x="777240" y="3429000"/>
            <a:ext cx="1463040" cy="685800"/>
          </a:xfrm>
          <a:prstGeom prst="rect">
            <a:avLst/>
          </a:prstGeom>
          <a:noFill/>
          <a:ln/>
        </p:spPr>
        <p:txBody>
          <a:bodyPr wrap="square" lIns="0" tIns="0" rIns="0" bIns="0" rtlCol="0" anchor="t"/>
          <a:lstStyle/>
          <a:p>
            <a:pPr indent="0" marL="0">
              <a:buNone/>
            </a:pPr>
            <a:r>
              <a:rPr lang="en-US" sz="1300" dirty="0">
                <a:solidFill>
                  <a:schemeClr val="tx2"/>
                </a:solidFill>
              </a:rPr>
              <a:t>to build something</a:t>
            </a:r>
            <a:endParaRPr lang="en-US" sz="1300" dirty="0"/>
          </a:p>
        </p:txBody>
      </p:sp>
      <p:sp>
        <p:nvSpPr>
          <p:cNvPr id="8" name="“Show me”"/>
          <p:cNvSpPr/>
          <p:nvPr/>
        </p:nvSpPr>
        <p:spPr>
          <a:xfrm>
            <a:off x="2606040" y="1234440"/>
            <a:ext cx="1874520" cy="30632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Show me” circle"/>
          <p:cNvSpPr/>
          <p:nvPr/>
        </p:nvSpPr>
        <p:spPr>
          <a:xfrm>
            <a:off x="2834640" y="1508760"/>
            <a:ext cx="594360" cy="594360"/>
          </a:xfrm>
          <a:prstGeom prst="ellipse">
            <a:avLst/>
          </a:prstGeom>
          <a:solidFill>
            <a:schemeClr val="accent1"/>
          </a:solidFill>
          <a:ln w="12700">
            <a:solidFill>
              <a:schemeClr val="accent1"/>
            </a:solidFill>
            <a:prstDash val="solid"/>
          </a:ln>
        </p:spPr>
      </p:sp>
      <p:pic>
        <p:nvPicPr>
          <p:cNvPr id="10" name="“Show me”" descr="preencoded.png">    </p:cNvPr>
          <p:cNvPicPr>
            <a:picLocks noChangeAspect="1"/>
          </p:cNvPicPr>
          <p:nvPr/>
        </p:nvPicPr>
        <p:blipFill>
          <a:blip r:embed="rId2"/>
          <a:stretch>
            <a:fillRect/>
          </a:stretch>
        </p:blipFill>
        <p:spPr>
          <a:xfrm>
            <a:off x="2995117" y="1669237"/>
            <a:ext cx="273406" cy="273406"/>
          </a:xfrm>
          <a:prstGeom prst="rect">
            <a:avLst/>
          </a:prstGeom>
        </p:spPr>
      </p:pic>
      <p:sp>
        <p:nvSpPr>
          <p:cNvPr id="11" name="Text 7"/>
          <p:cNvSpPr txBox="1"/>
          <p:nvPr/>
        </p:nvSpPr>
        <p:spPr>
          <a:xfrm>
            <a:off x="2834640" y="2331720"/>
            <a:ext cx="1463040" cy="1051560"/>
          </a:xfrm>
          <a:prstGeom prst="rect">
            <a:avLst/>
          </a:prstGeom>
          <a:noFill/>
          <a:ln/>
        </p:spPr>
        <p:txBody>
          <a:bodyPr wrap="square" lIns="0" tIns="0" rIns="0" bIns="0" rtlCol="0" anchor="t"/>
          <a:lstStyle/>
          <a:p>
            <a:pPr indent="0" marL="0">
              <a:buNone/>
            </a:pPr>
            <a:r>
              <a:rPr lang="en-US" sz="1600" b="1" dirty="0">
                <a:solidFill>
                  <a:schemeClr val="tx1"/>
                </a:solidFill>
                <a:latin typeface="Georgia" pitchFamily="34" charset="0"/>
                <a:ea typeface="Georgia" pitchFamily="34" charset="-122"/>
                <a:cs typeface="Georgia" pitchFamily="34" charset="-120"/>
              </a:rPr>
              <a:t>“Show me”</a:t>
            </a:r>
            <a:endParaRPr lang="en-US" sz="1600" dirty="0"/>
          </a:p>
        </p:txBody>
      </p:sp>
      <p:sp>
        <p:nvSpPr>
          <p:cNvPr id="12" name="Text 8"/>
          <p:cNvSpPr txBox="1"/>
          <p:nvPr/>
        </p:nvSpPr>
        <p:spPr>
          <a:xfrm>
            <a:off x="2834640" y="3429000"/>
            <a:ext cx="1463040" cy="685800"/>
          </a:xfrm>
          <a:prstGeom prst="rect">
            <a:avLst/>
          </a:prstGeom>
          <a:noFill/>
          <a:ln/>
        </p:spPr>
        <p:txBody>
          <a:bodyPr wrap="square" lIns="0" tIns="0" rIns="0" bIns="0" rtlCol="0" anchor="t"/>
          <a:lstStyle/>
          <a:p>
            <a:pPr indent="0" marL="0">
              <a:buNone/>
            </a:pPr>
            <a:r>
              <a:rPr lang="en-US" sz="1300" dirty="0">
                <a:solidFill>
                  <a:schemeClr val="tx2"/>
                </a:solidFill>
              </a:rPr>
              <a:t>to preview it</a:t>
            </a:r>
            <a:endParaRPr lang="en-US" sz="1300" dirty="0"/>
          </a:p>
        </p:txBody>
      </p:sp>
      <p:sp>
        <p:nvSpPr>
          <p:cNvPr id="13" name="“Ship it”"/>
          <p:cNvSpPr/>
          <p:nvPr/>
        </p:nvSpPr>
        <p:spPr>
          <a:xfrm>
            <a:off x="4663440" y="1234440"/>
            <a:ext cx="1874520" cy="3063240"/>
          </a:xfrm>
          <a:prstGeom prst="roundRect">
            <a:avLst>
              <a:gd name="adj" fmla="val 3902"/>
            </a:avLst>
          </a:prstGeom>
          <a:solidFill>
            <a:schemeClr val="tx1"/>
          </a:solidFill>
          <a:ln w="12700">
            <a:solidFill>
              <a:schemeClr val="tx1"/>
            </a:solidFill>
            <a:prstDash val="solid"/>
          </a:ln>
          <a:effectLst>
            <a:outerShdw sx="100000" sy="100000" kx="0" ky="0" algn="bl" rotWithShape="0" blurRad="76200" dist="25400" dir="5400000">
              <a:srgbClr val="000000">
                <a:alpha val="8000"/>
              </a:srgbClr>
            </a:outerShdw>
          </a:effectLst>
        </p:spPr>
      </p:sp>
      <p:sp>
        <p:nvSpPr>
          <p:cNvPr id="14" name="“Ship it” circle"/>
          <p:cNvSpPr/>
          <p:nvPr/>
        </p:nvSpPr>
        <p:spPr>
          <a:xfrm>
            <a:off x="4892040" y="1508760"/>
            <a:ext cx="594360" cy="594360"/>
          </a:xfrm>
          <a:prstGeom prst="ellipse">
            <a:avLst/>
          </a:prstGeom>
          <a:solidFill>
            <a:schemeClr val="accent1"/>
          </a:solidFill>
          <a:ln w="12700">
            <a:solidFill>
              <a:schemeClr val="accent1"/>
            </a:solidFill>
            <a:prstDash val="solid"/>
          </a:ln>
        </p:spPr>
      </p:sp>
      <p:pic>
        <p:nvPicPr>
          <p:cNvPr id="15" name="“Ship it”" descr="preencoded.png">    </p:cNvPr>
          <p:cNvPicPr>
            <a:picLocks noChangeAspect="1"/>
          </p:cNvPicPr>
          <p:nvPr/>
        </p:nvPicPr>
        <p:blipFill>
          <a:blip r:embed="rId3"/>
          <a:stretch>
            <a:fillRect/>
          </a:stretch>
        </p:blipFill>
        <p:spPr>
          <a:xfrm>
            <a:off x="5052517" y="1669237"/>
            <a:ext cx="273406" cy="273406"/>
          </a:xfrm>
          <a:prstGeom prst="rect">
            <a:avLst/>
          </a:prstGeom>
        </p:spPr>
      </p:pic>
      <p:sp>
        <p:nvSpPr>
          <p:cNvPr id="16" name="Text 11"/>
          <p:cNvSpPr txBox="1"/>
          <p:nvPr/>
        </p:nvSpPr>
        <p:spPr>
          <a:xfrm>
            <a:off x="4892040" y="2331720"/>
            <a:ext cx="1463040" cy="1051560"/>
          </a:xfrm>
          <a:prstGeom prst="rect">
            <a:avLst/>
          </a:prstGeom>
          <a:noFill/>
          <a:ln/>
        </p:spPr>
        <p:txBody>
          <a:bodyPr wrap="square" lIns="0" tIns="0" rIns="0" bIns="0" rtlCol="0" anchor="t"/>
          <a:lstStyle/>
          <a:p>
            <a:pPr indent="0" marL="0">
              <a:buNone/>
            </a:pPr>
            <a:r>
              <a:rPr lang="en-US" sz="1600" b="1" dirty="0">
                <a:solidFill>
                  <a:schemeClr val="bg2"/>
                </a:solidFill>
                <a:latin typeface="Georgia" pitchFamily="34" charset="0"/>
                <a:ea typeface="Georgia" pitchFamily="34" charset="-122"/>
                <a:cs typeface="Georgia" pitchFamily="34" charset="-120"/>
              </a:rPr>
              <a:t>“Ship it”</a:t>
            </a:r>
            <a:endParaRPr lang="en-US" sz="1600" dirty="0"/>
          </a:p>
        </p:txBody>
      </p:sp>
      <p:sp>
        <p:nvSpPr>
          <p:cNvPr id="17" name="Text 12"/>
          <p:cNvSpPr txBox="1"/>
          <p:nvPr/>
        </p:nvSpPr>
        <p:spPr>
          <a:xfrm>
            <a:off x="4892040" y="3429000"/>
            <a:ext cx="1463040" cy="685800"/>
          </a:xfrm>
          <a:prstGeom prst="rect">
            <a:avLst/>
          </a:prstGeom>
          <a:noFill/>
          <a:ln/>
        </p:spPr>
        <p:txBody>
          <a:bodyPr wrap="square" lIns="0" tIns="0" rIns="0" bIns="0" rtlCol="0" anchor="t"/>
          <a:lstStyle/>
          <a:p>
            <a:pPr indent="0" marL="0">
              <a:buNone/>
            </a:pPr>
            <a:r>
              <a:rPr lang="en-US" sz="1300" dirty="0">
                <a:solidFill>
                  <a:schemeClr val="accent3"/>
                </a:solidFill>
              </a:rPr>
              <a:t>to send it for approval</a:t>
            </a:r>
            <a:endParaRPr lang="en-US" sz="1300" dirty="0"/>
          </a:p>
        </p:txBody>
      </p:sp>
      <p:sp>
        <p:nvSpPr>
          <p:cNvPr id="18" name="“Write an engineering request”"/>
          <p:cNvSpPr/>
          <p:nvPr/>
        </p:nvSpPr>
        <p:spPr>
          <a:xfrm>
            <a:off x="6720840" y="1234440"/>
            <a:ext cx="1874520" cy="3063240"/>
          </a:xfrm>
          <a:prstGeom prst="roundRect">
            <a:avLst>
              <a:gd name="adj" fmla="val 3902"/>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9" name="“Write an engineering request” circle"/>
          <p:cNvSpPr/>
          <p:nvPr/>
        </p:nvSpPr>
        <p:spPr>
          <a:xfrm>
            <a:off x="6949440" y="1508760"/>
            <a:ext cx="594360" cy="594360"/>
          </a:xfrm>
          <a:prstGeom prst="ellipse">
            <a:avLst/>
          </a:prstGeom>
          <a:solidFill>
            <a:schemeClr val="accent1"/>
          </a:solidFill>
          <a:ln w="12700">
            <a:solidFill>
              <a:schemeClr val="accent1"/>
            </a:solidFill>
            <a:prstDash val="solid"/>
          </a:ln>
        </p:spPr>
      </p:sp>
      <p:pic>
        <p:nvPicPr>
          <p:cNvPr id="20" name="“Write an engineering request”" descr="preencoded.png">    </p:cNvPr>
          <p:cNvPicPr>
            <a:picLocks noChangeAspect="1"/>
          </p:cNvPicPr>
          <p:nvPr/>
        </p:nvPicPr>
        <p:blipFill>
          <a:blip r:embed="rId4"/>
          <a:stretch>
            <a:fillRect/>
          </a:stretch>
        </p:blipFill>
        <p:spPr>
          <a:xfrm>
            <a:off x="7109917" y="1669237"/>
            <a:ext cx="273406" cy="273406"/>
          </a:xfrm>
          <a:prstGeom prst="rect">
            <a:avLst/>
          </a:prstGeom>
        </p:spPr>
      </p:pic>
      <p:sp>
        <p:nvSpPr>
          <p:cNvPr id="21" name="Text 15"/>
          <p:cNvSpPr txBox="1"/>
          <p:nvPr/>
        </p:nvSpPr>
        <p:spPr>
          <a:xfrm>
            <a:off x="6949440" y="2331720"/>
            <a:ext cx="1463040" cy="1051560"/>
          </a:xfrm>
          <a:prstGeom prst="rect">
            <a:avLst/>
          </a:prstGeom>
          <a:noFill/>
          <a:ln/>
        </p:spPr>
        <p:txBody>
          <a:bodyPr wrap="square" lIns="0" tIns="0" rIns="0" bIns="0" rtlCol="0" anchor="t"/>
          <a:lstStyle/>
          <a:p>
            <a:pPr indent="0" marL="0">
              <a:buNone/>
            </a:pPr>
            <a:r>
              <a:rPr lang="en-US" sz="1600" b="1" dirty="0">
                <a:solidFill>
                  <a:schemeClr val="tx1"/>
                </a:solidFill>
                <a:latin typeface="Georgia" pitchFamily="34" charset="0"/>
                <a:ea typeface="Georgia" pitchFamily="34" charset="-122"/>
                <a:cs typeface="Georgia" pitchFamily="34" charset="-120"/>
              </a:rPr>
              <a:t>“Write an engineering request”</a:t>
            </a:r>
            <a:endParaRPr lang="en-US" sz="1600" dirty="0"/>
          </a:p>
        </p:txBody>
      </p:sp>
      <p:sp>
        <p:nvSpPr>
          <p:cNvPr id="22" name="Text 16"/>
          <p:cNvSpPr txBox="1"/>
          <p:nvPr/>
        </p:nvSpPr>
        <p:spPr>
          <a:xfrm>
            <a:off x="6949440" y="3429000"/>
            <a:ext cx="1463040" cy="685800"/>
          </a:xfrm>
          <a:prstGeom prst="rect">
            <a:avLst/>
          </a:prstGeom>
          <a:noFill/>
          <a:ln/>
        </p:spPr>
        <p:txBody>
          <a:bodyPr wrap="square" lIns="0" tIns="0" rIns="0" bIns="0" rtlCol="0" anchor="t"/>
          <a:lstStyle/>
          <a:p>
            <a:pPr indent="0" marL="0">
              <a:buNone/>
            </a:pPr>
            <a:r>
              <a:rPr lang="en-US" sz="1300" dirty="0">
                <a:solidFill>
                  <a:schemeClr val="tx2"/>
                </a:solidFill>
              </a:rPr>
              <a:t>for anything an extension can't do</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Your turn</a:t>
            </a:r>
            <a:endParaRPr lang="en-US" sz="3000" dirty="0"/>
          </a:p>
        </p:txBody>
      </p:sp>
      <p:sp>
        <p:nvSpPr>
          <p:cNvPr id="3" name="timer"/>
          <p:cNvSpPr/>
          <p:nvPr/>
        </p:nvSpPr>
        <p:spPr>
          <a:xfrm>
            <a:off x="548640" y="1188720"/>
            <a:ext cx="2377440" cy="3108960"/>
          </a:xfrm>
          <a:prstGeom prst="roundRect">
            <a:avLst>
              <a:gd name="adj" fmla="val 3077"/>
            </a:avLst>
          </a:prstGeom>
          <a:solidFill>
            <a:schemeClr val="tx1"/>
          </a:solidFill>
          <a:ln w="12700">
            <a:solidFill>
              <a:schemeClr val="tx1"/>
            </a:solidFill>
            <a:prstDash val="solid"/>
          </a:ln>
          <a:effectLst>
            <a:outerShdw sx="100000" sy="100000" kx="0" ky="0" algn="bl" rotWithShape="0" blurRad="76200" dist="25400" dir="5400000">
              <a:srgbClr val="000000">
                <a:alpha val="8000"/>
              </a:srgbClr>
            </a:outerShdw>
          </a:effectLst>
        </p:spPr>
      </p:sp>
      <p:sp>
        <p:nvSpPr>
          <p:cNvPr id="4" name="timer icon circle"/>
          <p:cNvSpPr/>
          <p:nvPr/>
        </p:nvSpPr>
        <p:spPr>
          <a:xfrm>
            <a:off x="822960" y="1463040"/>
            <a:ext cx="548640" cy="548640"/>
          </a:xfrm>
          <a:prstGeom prst="ellipse">
            <a:avLst/>
          </a:prstGeom>
          <a:solidFill>
            <a:schemeClr val="accent1"/>
          </a:solidFill>
          <a:ln w="12700">
            <a:solidFill>
              <a:schemeClr val="accent1"/>
            </a:solidFill>
            <a:prstDash val="solid"/>
          </a:ln>
        </p:spPr>
      </p:sp>
      <p:pic>
        <p:nvPicPr>
          <p:cNvPr id="5" name="timer icon" descr="preencoded.png">    </p:cNvPr>
          <p:cNvPicPr>
            <a:picLocks noChangeAspect="1"/>
          </p:cNvPicPr>
          <p:nvPr/>
        </p:nvPicPr>
        <p:blipFill>
          <a:blip r:embed="rId1"/>
          <a:stretch>
            <a:fillRect/>
          </a:stretch>
        </p:blipFill>
        <p:spPr>
          <a:xfrm>
            <a:off x="971093" y="1611173"/>
            <a:ext cx="252374" cy="252374"/>
          </a:xfrm>
          <a:prstGeom prst="rect">
            <a:avLst/>
          </a:prstGeom>
        </p:spPr>
      </p:pic>
      <p:sp>
        <p:nvSpPr>
          <p:cNvPr id="6" name="Text 3"/>
          <p:cNvSpPr txBox="1"/>
          <p:nvPr/>
        </p:nvSpPr>
        <p:spPr>
          <a:xfrm>
            <a:off x="822960" y="2194560"/>
            <a:ext cx="1828800" cy="1005840"/>
          </a:xfrm>
          <a:prstGeom prst="rect">
            <a:avLst/>
          </a:prstGeom>
          <a:noFill/>
          <a:ln/>
        </p:spPr>
        <p:txBody>
          <a:bodyPr wrap="square" lIns="0" tIns="0" rIns="0" bIns="0" rtlCol="0" anchor="t"/>
          <a:lstStyle/>
          <a:p>
            <a:pPr indent="0" marL="0">
              <a:buNone/>
            </a:pPr>
            <a:r>
              <a:rPr lang="en-US" sz="6400" b="1" dirty="0">
                <a:solidFill>
                  <a:schemeClr val="bg2"/>
                </a:solidFill>
                <a:latin typeface="Georgia" pitchFamily="34" charset="0"/>
                <a:ea typeface="Georgia" pitchFamily="34" charset="-122"/>
                <a:cs typeface="Georgia" pitchFamily="34" charset="-120"/>
              </a:rPr>
              <a:t>15</a:t>
            </a:r>
            <a:endParaRPr lang="en-US" sz="6400" dirty="0"/>
          </a:p>
        </p:txBody>
      </p:sp>
      <p:sp>
        <p:nvSpPr>
          <p:cNvPr id="7" name="Text 4"/>
          <p:cNvSpPr txBox="1"/>
          <p:nvPr/>
        </p:nvSpPr>
        <p:spPr>
          <a:xfrm>
            <a:off x="822960" y="3291840"/>
            <a:ext cx="1920240" cy="548640"/>
          </a:xfrm>
          <a:prstGeom prst="rect">
            <a:avLst/>
          </a:prstGeom>
          <a:noFill/>
          <a:ln/>
        </p:spPr>
        <p:txBody>
          <a:bodyPr wrap="square" lIns="0" tIns="0" rIns="0" bIns="0" rtlCol="0" anchor="t"/>
          <a:lstStyle/>
          <a:p>
            <a:pPr indent="0" marL="0">
              <a:buNone/>
            </a:pPr>
            <a:r>
              <a:rPr lang="en-US" sz="1400" dirty="0">
                <a:solidFill>
                  <a:schemeClr val="accent3"/>
                </a:solidFill>
              </a:rPr>
              <a:t>minutes to a preview</a:t>
            </a:r>
            <a:endParaRPr lang="en-US" sz="1400" dirty="0"/>
          </a:p>
        </p:txBody>
      </p:sp>
      <p:sp>
        <p:nvSpPr>
          <p:cNvPr id="8" name="Open your workspace"/>
          <p:cNvSpPr/>
          <p:nvPr/>
        </p:nvSpPr>
        <p:spPr>
          <a:xfrm>
            <a:off x="3154680" y="1188720"/>
            <a:ext cx="5440680" cy="685800"/>
          </a:xfrm>
          <a:prstGeom prst="roundRect">
            <a:avLst>
              <a:gd name="adj" fmla="val 1066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step 1"/>
          <p:cNvSpPr/>
          <p:nvPr/>
        </p:nvSpPr>
        <p:spPr>
          <a:xfrm>
            <a:off x="3337560" y="1325880"/>
            <a:ext cx="411480" cy="411480"/>
          </a:xfrm>
          <a:prstGeom prst="ellipse">
            <a:avLst/>
          </a:prstGeom>
          <a:solidFill>
            <a:schemeClr val="accent1"/>
          </a:solidFill>
          <a:ln w="12700">
            <a:solidFill>
              <a:schemeClr val="accent1"/>
            </a:solidFill>
            <a:prstDash val="solid"/>
          </a:ln>
        </p:spPr>
      </p:sp>
      <p:sp>
        <p:nvSpPr>
          <p:cNvPr id="10" name="Text 7"/>
          <p:cNvSpPr txBox="1"/>
          <p:nvPr/>
        </p:nvSpPr>
        <p:spPr>
          <a:xfrm>
            <a:off x="333756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1</a:t>
            </a:r>
            <a:endParaRPr lang="en-US" sz="1400" dirty="0"/>
          </a:p>
        </p:txBody>
      </p:sp>
      <p:sp>
        <p:nvSpPr>
          <p:cNvPr id="11" name="Text 8"/>
          <p:cNvSpPr txBox="1"/>
          <p:nvPr/>
        </p:nvSpPr>
        <p:spPr>
          <a:xfrm>
            <a:off x="3931920" y="1280160"/>
            <a:ext cx="4480560" cy="274320"/>
          </a:xfrm>
          <a:prstGeom prst="rect">
            <a:avLst/>
          </a:prstGeom>
          <a:noFill/>
          <a:ln/>
        </p:spPr>
        <p:txBody>
          <a:bodyPr wrap="square" lIns="0" tIns="0" rIns="0" bIns="0" rtlCol="0" anchor="t"/>
          <a:lstStyle/>
          <a:p>
            <a:pPr indent="0" marL="0">
              <a:buNone/>
            </a:pPr>
            <a:r>
              <a:rPr lang="en-US" sz="1400" b="1" dirty="0">
                <a:solidFill>
                  <a:schemeClr val="tx1"/>
                </a:solidFill>
              </a:rPr>
              <a:t>Open your workspace</a:t>
            </a:r>
            <a:endParaRPr lang="en-US" sz="1400" dirty="0"/>
          </a:p>
        </p:txBody>
      </p:sp>
      <p:sp>
        <p:nvSpPr>
          <p:cNvPr id="12" name="Text 9"/>
          <p:cNvSpPr txBox="1"/>
          <p:nvPr/>
        </p:nvSpPr>
        <p:spPr>
          <a:xfrm>
            <a:off x="3931920" y="1554480"/>
            <a:ext cx="4480560" cy="256032"/>
          </a:xfrm>
          <a:prstGeom prst="rect">
            <a:avLst/>
          </a:prstGeom>
          <a:noFill/>
          <a:ln/>
        </p:spPr>
        <p:txBody>
          <a:bodyPr wrap="square" lIns="0" tIns="0" rIns="0" bIns="0" rtlCol="0" anchor="t"/>
          <a:lstStyle/>
          <a:p>
            <a:pPr indent="0" marL="0">
              <a:buNone/>
            </a:pPr>
            <a:r>
              <a:rPr lang="en-US" sz="1200" dirty="0">
                <a:solidFill>
                  <a:schemeClr val="tx2"/>
                </a:solidFill>
              </a:rPr>
              <a:t>Click Open in GitHub Codespaces in the README</a:t>
            </a:r>
            <a:endParaRPr lang="en-US" sz="1200" dirty="0"/>
          </a:p>
        </p:txBody>
      </p:sp>
      <p:sp>
        <p:nvSpPr>
          <p:cNvPr id="13" name="Type claude"/>
          <p:cNvSpPr/>
          <p:nvPr/>
        </p:nvSpPr>
        <p:spPr>
          <a:xfrm>
            <a:off x="3154680" y="1984248"/>
            <a:ext cx="5440680" cy="685800"/>
          </a:xfrm>
          <a:prstGeom prst="roundRect">
            <a:avLst>
              <a:gd name="adj" fmla="val 1066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4" name="step 2"/>
          <p:cNvSpPr/>
          <p:nvPr/>
        </p:nvSpPr>
        <p:spPr>
          <a:xfrm>
            <a:off x="3337560" y="2121408"/>
            <a:ext cx="411480" cy="411480"/>
          </a:xfrm>
          <a:prstGeom prst="ellipse">
            <a:avLst/>
          </a:prstGeom>
          <a:solidFill>
            <a:schemeClr val="accent1"/>
          </a:solidFill>
          <a:ln w="12700">
            <a:solidFill>
              <a:schemeClr val="accent1"/>
            </a:solidFill>
            <a:prstDash val="solid"/>
          </a:ln>
        </p:spPr>
      </p:sp>
      <p:sp>
        <p:nvSpPr>
          <p:cNvPr id="15" name="Text 12"/>
          <p:cNvSpPr txBox="1"/>
          <p:nvPr/>
        </p:nvSpPr>
        <p:spPr>
          <a:xfrm>
            <a:off x="3337560" y="21214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2</a:t>
            </a:r>
            <a:endParaRPr lang="en-US" sz="1400" dirty="0"/>
          </a:p>
        </p:txBody>
      </p:sp>
      <p:sp>
        <p:nvSpPr>
          <p:cNvPr id="16" name="Text 13"/>
          <p:cNvSpPr txBox="1"/>
          <p:nvPr/>
        </p:nvSpPr>
        <p:spPr>
          <a:xfrm>
            <a:off x="3931920" y="2075688"/>
            <a:ext cx="4480560" cy="274320"/>
          </a:xfrm>
          <a:prstGeom prst="rect">
            <a:avLst/>
          </a:prstGeom>
          <a:noFill/>
          <a:ln/>
        </p:spPr>
        <p:txBody>
          <a:bodyPr wrap="square" lIns="0" tIns="0" rIns="0" bIns="0" rtlCol="0" anchor="t"/>
          <a:lstStyle/>
          <a:p>
            <a:pPr indent="0" marL="0">
              <a:buNone/>
            </a:pPr>
            <a:r>
              <a:rPr lang="en-US" sz="1400" b="1" dirty="0">
                <a:solidFill>
                  <a:schemeClr val="tx1"/>
                </a:solidFill>
              </a:rPr>
              <a:t>Type claude</a:t>
            </a:r>
            <a:endParaRPr lang="en-US" sz="1400" dirty="0"/>
          </a:p>
        </p:txBody>
      </p:sp>
      <p:sp>
        <p:nvSpPr>
          <p:cNvPr id="17" name="Text 14"/>
          <p:cNvSpPr txBox="1"/>
          <p:nvPr/>
        </p:nvSpPr>
        <p:spPr>
          <a:xfrm>
            <a:off x="3931920" y="2350008"/>
            <a:ext cx="4480560" cy="256032"/>
          </a:xfrm>
          <a:prstGeom prst="rect">
            <a:avLst/>
          </a:prstGeom>
          <a:noFill/>
          <a:ln/>
        </p:spPr>
        <p:txBody>
          <a:bodyPr wrap="square" lIns="0" tIns="0" rIns="0" bIns="0" rtlCol="0" anchor="t"/>
          <a:lstStyle/>
          <a:p>
            <a:pPr indent="0" marL="0">
              <a:buNone/>
            </a:pPr>
            <a:r>
              <a:rPr lang="en-US" sz="1200" dirty="0">
                <a:solidFill>
                  <a:schemeClr val="tx2"/>
                </a:solidFill>
              </a:rPr>
              <a:t>Sign in with your company Claude account the first time</a:t>
            </a:r>
            <a:endParaRPr lang="en-US" sz="1200" dirty="0"/>
          </a:p>
        </p:txBody>
      </p:sp>
      <p:sp>
        <p:nvSpPr>
          <p:cNvPr id="18" name="Pick a starter idea"/>
          <p:cNvSpPr/>
          <p:nvPr/>
        </p:nvSpPr>
        <p:spPr>
          <a:xfrm>
            <a:off x="3154680" y="2779776"/>
            <a:ext cx="5440680" cy="685800"/>
          </a:xfrm>
          <a:prstGeom prst="roundRect">
            <a:avLst>
              <a:gd name="adj" fmla="val 1066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19" name="step 3"/>
          <p:cNvSpPr/>
          <p:nvPr/>
        </p:nvSpPr>
        <p:spPr>
          <a:xfrm>
            <a:off x="3337560" y="2916936"/>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3337560" y="291693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3</a:t>
            </a:r>
            <a:endParaRPr lang="en-US" sz="1400" dirty="0"/>
          </a:p>
        </p:txBody>
      </p:sp>
      <p:sp>
        <p:nvSpPr>
          <p:cNvPr id="21" name="Text 18"/>
          <p:cNvSpPr txBox="1"/>
          <p:nvPr/>
        </p:nvSpPr>
        <p:spPr>
          <a:xfrm>
            <a:off x="3931920" y="2871216"/>
            <a:ext cx="4480560" cy="274320"/>
          </a:xfrm>
          <a:prstGeom prst="rect">
            <a:avLst/>
          </a:prstGeom>
          <a:noFill/>
          <a:ln/>
        </p:spPr>
        <p:txBody>
          <a:bodyPr wrap="square" lIns="0" tIns="0" rIns="0" bIns="0" rtlCol="0" anchor="t"/>
          <a:lstStyle/>
          <a:p>
            <a:pPr indent="0" marL="0">
              <a:buNone/>
            </a:pPr>
            <a:r>
              <a:rPr lang="en-US" sz="1400" b="1" dirty="0">
                <a:solidFill>
                  <a:schemeClr val="tx1"/>
                </a:solidFill>
              </a:rPr>
              <a:t>Pick a starter idea</a:t>
            </a:r>
            <a:endParaRPr lang="en-US" sz="1400" dirty="0"/>
          </a:p>
        </p:txBody>
      </p:sp>
      <p:sp>
        <p:nvSpPr>
          <p:cNvPr id="22" name="Text 19"/>
          <p:cNvSpPr txBox="1"/>
          <p:nvPr/>
        </p:nvSpPr>
        <p:spPr>
          <a:xfrm>
            <a:off x="3931920" y="3145536"/>
            <a:ext cx="4480560" cy="256032"/>
          </a:xfrm>
          <a:prstGeom prst="rect">
            <a:avLst/>
          </a:prstGeom>
          <a:noFill/>
          <a:ln/>
        </p:spPr>
        <p:txBody>
          <a:bodyPr wrap="square" lIns="0" tIns="0" rIns="0" bIns="0" rtlCol="0" anchor="t"/>
          <a:lstStyle/>
          <a:p>
            <a:pPr indent="0" marL="0">
              <a:buNone/>
            </a:pPr>
            <a:r>
              <a:rPr lang="en-US" sz="1200" dirty="0">
                <a:solidFill>
                  <a:schemeClr val="tx2"/>
                </a:solidFill>
              </a:rPr>
              <a:t>Paste it in, then answer Claude's questions</a:t>
            </a:r>
            <a:endParaRPr lang="en-US" sz="1200" dirty="0"/>
          </a:p>
        </p:txBody>
      </p:sp>
      <p:sp>
        <p:nvSpPr>
          <p:cNvPr id="23" name="Get to a preview"/>
          <p:cNvSpPr/>
          <p:nvPr/>
        </p:nvSpPr>
        <p:spPr>
          <a:xfrm>
            <a:off x="3154680" y="3575304"/>
            <a:ext cx="5440680" cy="685800"/>
          </a:xfrm>
          <a:prstGeom prst="roundRect">
            <a:avLst>
              <a:gd name="adj" fmla="val 1066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24" name="step 4"/>
          <p:cNvSpPr/>
          <p:nvPr/>
        </p:nvSpPr>
        <p:spPr>
          <a:xfrm>
            <a:off x="3337560" y="3712464"/>
            <a:ext cx="411480" cy="411480"/>
          </a:xfrm>
          <a:prstGeom prst="ellipse">
            <a:avLst/>
          </a:prstGeom>
          <a:solidFill>
            <a:schemeClr val="accent1"/>
          </a:solidFill>
          <a:ln w="12700">
            <a:solidFill>
              <a:schemeClr val="accent1"/>
            </a:solidFill>
            <a:prstDash val="solid"/>
          </a:ln>
        </p:spPr>
      </p:sp>
      <p:sp>
        <p:nvSpPr>
          <p:cNvPr id="25" name="Text 22"/>
          <p:cNvSpPr txBox="1"/>
          <p:nvPr/>
        </p:nvSpPr>
        <p:spPr>
          <a:xfrm>
            <a:off x="3337560" y="37124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Georgia" pitchFamily="34" charset="0"/>
                <a:ea typeface="Georgia" pitchFamily="34" charset="-122"/>
                <a:cs typeface="Georgia" pitchFamily="34" charset="-120"/>
              </a:rPr>
              <a:t>4</a:t>
            </a:r>
            <a:endParaRPr lang="en-US" sz="1400" dirty="0"/>
          </a:p>
        </p:txBody>
      </p:sp>
      <p:sp>
        <p:nvSpPr>
          <p:cNvPr id="26" name="Text 23"/>
          <p:cNvSpPr txBox="1"/>
          <p:nvPr/>
        </p:nvSpPr>
        <p:spPr>
          <a:xfrm>
            <a:off x="3931920" y="3666744"/>
            <a:ext cx="4480560" cy="274320"/>
          </a:xfrm>
          <a:prstGeom prst="rect">
            <a:avLst/>
          </a:prstGeom>
          <a:noFill/>
          <a:ln/>
        </p:spPr>
        <p:txBody>
          <a:bodyPr wrap="square" lIns="0" tIns="0" rIns="0" bIns="0" rtlCol="0" anchor="t"/>
          <a:lstStyle/>
          <a:p>
            <a:pPr indent="0" marL="0">
              <a:buNone/>
            </a:pPr>
            <a:r>
              <a:rPr lang="en-US" sz="1400" b="1" dirty="0">
                <a:solidFill>
                  <a:schemeClr val="tx1"/>
                </a:solidFill>
              </a:rPr>
              <a:t>Get to a preview</a:t>
            </a:r>
            <a:endParaRPr lang="en-US" sz="1400" dirty="0"/>
          </a:p>
        </p:txBody>
      </p:sp>
      <p:sp>
        <p:nvSpPr>
          <p:cNvPr id="27" name="Text 24"/>
          <p:cNvSpPr txBox="1"/>
          <p:nvPr/>
        </p:nvSpPr>
        <p:spPr>
          <a:xfrm>
            <a:off x="3931920" y="3941064"/>
            <a:ext cx="4480560" cy="256032"/>
          </a:xfrm>
          <a:prstGeom prst="rect">
            <a:avLst/>
          </a:prstGeom>
          <a:noFill/>
          <a:ln/>
        </p:spPr>
        <p:txBody>
          <a:bodyPr wrap="square" lIns="0" tIns="0" rIns="0" bIns="0" rtlCol="0" anchor="t"/>
          <a:lstStyle/>
          <a:p>
            <a:pPr indent="0" marL="0">
              <a:buNone/>
            </a:pPr>
            <a:r>
              <a:rPr lang="en-US" sz="1200" dirty="0">
                <a:solidFill>
                  <a:schemeClr val="tx2"/>
                </a:solidFill>
              </a:rPr>
              <a:t>Then put your hand up</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1645920"/>
          </a:xfrm>
          <a:prstGeom prst="rect">
            <a:avLst/>
          </a:prstGeom>
          <a:noFill/>
          <a:ln/>
        </p:spPr>
        <p:txBody>
          <a:bodyPr wrap="square" lIns="0" tIns="0" rIns="0" bIns="0" rtlCol="0" anchor="b"/>
          <a:lstStyle/>
          <a:p>
            <a:pPr algn="l" indent="0" marL="0">
              <a:buNone/>
            </a:pPr>
            <a:r>
              <a:rPr lang="en-US" sz="4000" b="1" dirty="0">
                <a:solidFill>
                  <a:schemeClr val="bg2"/>
                </a:solidFill>
              </a:rPr>
              <a:t>Show and tell</a:t>
            </a:r>
            <a:endParaRPr lang="en-US" sz="4000" dirty="0"/>
          </a:p>
        </p:txBody>
      </p:sp>
      <p:sp>
        <p:nvSpPr>
          <p:cNvPr id="3" name="Text 0"/>
          <p:cNvSpPr/>
          <p:nvPr>
            <p:ph idx="101" type="body" hasCustomPrompt="1"/>
          </p:nvPr>
        </p:nvSpPr>
        <p:spPr>
          <a:xfrm>
            <a:off x="548640" y="2606040"/>
            <a:ext cx="8046720" cy="548640"/>
          </a:xfrm>
          <a:prstGeom prst="rect">
            <a:avLst/>
          </a:prstGeom>
          <a:noFill/>
          <a:ln/>
        </p:spPr>
        <p:txBody>
          <a:bodyPr wrap="square" lIns="0" tIns="0" rIns="0" bIns="0" rtlCol="0" anchor="t"/>
          <a:lstStyle/>
          <a:p>
            <a:pPr algn="l" indent="0" marL="0">
              <a:buNone/>
            </a:pPr>
            <a:r>
              <a:rPr lang="en-US" sz="2000" dirty="0">
                <a:solidFill>
                  <a:schemeClr val="accent1"/>
                </a:solidFill>
              </a:rPr>
              <a:t>Two or three previews</a:t>
            </a:r>
            <a:endParaRPr lang="en-US" sz="2000" dirty="0"/>
          </a:p>
        </p:txBody>
      </p:sp>
      <p:sp>
        <p:nvSpPr>
          <p:cNvPr id="4" name="screen share circle"/>
          <p:cNvSpPr/>
          <p:nvPr/>
        </p:nvSpPr>
        <p:spPr>
          <a:xfrm>
            <a:off x="7589520" y="1417320"/>
            <a:ext cx="1005840" cy="1005840"/>
          </a:xfrm>
          <a:prstGeom prst="ellipse">
            <a:avLst/>
          </a:prstGeom>
          <a:solidFill>
            <a:schemeClr val="accent1"/>
          </a:solidFill>
          <a:ln w="12700">
            <a:solidFill>
              <a:schemeClr val="accent1"/>
            </a:solidFill>
            <a:prstDash val="solid"/>
          </a:ln>
        </p:spPr>
      </p:sp>
      <p:pic>
        <p:nvPicPr>
          <p:cNvPr id="5" name="screen share" descr="preencoded.png">    </p:cNvPr>
          <p:cNvPicPr>
            <a:picLocks noChangeAspect="1"/>
          </p:cNvPicPr>
          <p:nvPr/>
        </p:nvPicPr>
        <p:blipFill>
          <a:blip r:embed="rId1"/>
          <a:stretch>
            <a:fillRect/>
          </a:stretch>
        </p:blipFill>
        <p:spPr>
          <a:xfrm>
            <a:off x="7861097" y="1688897"/>
            <a:ext cx="462686" cy="4626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After today</a:t>
            </a:r>
            <a:endParaRPr lang="en-US" sz="3000" dirty="0"/>
          </a:p>
        </p:txBody>
      </p:sp>
      <p:sp>
        <p:nvSpPr>
          <p:cNvPr id="3" name="Cheat sheet"/>
          <p:cNvSpPr/>
          <p:nvPr/>
        </p:nvSpPr>
        <p:spPr>
          <a:xfrm>
            <a:off x="548640" y="1280160"/>
            <a:ext cx="2560320" cy="274320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4" name="Cheat sheet circle"/>
          <p:cNvSpPr/>
          <p:nvPr/>
        </p:nvSpPr>
        <p:spPr>
          <a:xfrm>
            <a:off x="822960" y="1600200"/>
            <a:ext cx="685800" cy="685800"/>
          </a:xfrm>
          <a:prstGeom prst="ellipse">
            <a:avLst/>
          </a:prstGeom>
          <a:solidFill>
            <a:schemeClr val="accent1"/>
          </a:solidFill>
          <a:ln w="12700">
            <a:solidFill>
              <a:schemeClr val="accent1"/>
            </a:solidFill>
            <a:prstDash val="solid"/>
          </a:ln>
        </p:spPr>
      </p:sp>
      <p:pic>
        <p:nvPicPr>
          <p:cNvPr id="5" name="Cheat sheet" descr="preencoded.png">    </p:cNvPr>
          <p:cNvPicPr>
            <a:picLocks noChangeAspect="1"/>
          </p:cNvPicPr>
          <p:nvPr/>
        </p:nvPicPr>
        <p:blipFill>
          <a:blip r:embed="rId1"/>
          <a:stretch>
            <a:fillRect/>
          </a:stretch>
        </p:blipFill>
        <p:spPr>
          <a:xfrm>
            <a:off x="1008126" y="1785366"/>
            <a:ext cx="315468" cy="315468"/>
          </a:xfrm>
          <a:prstGeom prst="rect">
            <a:avLst/>
          </a:prstGeom>
        </p:spPr>
      </p:pic>
      <p:sp>
        <p:nvSpPr>
          <p:cNvPr id="6" name="Text 3"/>
          <p:cNvSpPr txBox="1"/>
          <p:nvPr/>
        </p:nvSpPr>
        <p:spPr>
          <a:xfrm>
            <a:off x="822960" y="2514600"/>
            <a:ext cx="2057400" cy="411480"/>
          </a:xfrm>
          <a:prstGeom prst="rect">
            <a:avLst/>
          </a:prstGeom>
          <a:noFill/>
          <a:ln/>
        </p:spPr>
        <p:txBody>
          <a:bodyPr wrap="square" lIns="0" tIns="0" rIns="0" bIns="0" rtlCol="0" anchor="t"/>
          <a:lstStyle/>
          <a:p>
            <a:pPr indent="0" marL="0">
              <a:buNone/>
            </a:pPr>
            <a:r>
              <a:rPr lang="en-US" sz="2000" b="1" dirty="0">
                <a:solidFill>
                  <a:schemeClr val="tx1"/>
                </a:solidFill>
                <a:latin typeface="Georgia" pitchFamily="34" charset="0"/>
                <a:ea typeface="Georgia" pitchFamily="34" charset="-122"/>
                <a:cs typeface="Georgia" pitchFamily="34" charset="-120"/>
              </a:rPr>
              <a:t>Cheat sheet</a:t>
            </a:r>
            <a:endParaRPr lang="en-US" sz="2000" dirty="0"/>
          </a:p>
        </p:txBody>
      </p:sp>
      <p:sp>
        <p:nvSpPr>
          <p:cNvPr id="7" name="Text 4"/>
          <p:cNvSpPr txBox="1"/>
          <p:nvPr/>
        </p:nvSpPr>
        <p:spPr>
          <a:xfrm>
            <a:off x="822960" y="3017520"/>
            <a:ext cx="2057400" cy="731520"/>
          </a:xfrm>
          <a:prstGeom prst="rect">
            <a:avLst/>
          </a:prstGeom>
          <a:noFill/>
          <a:ln/>
        </p:spPr>
        <p:txBody>
          <a:bodyPr wrap="square" lIns="0" tIns="0" rIns="0" bIns="0" rtlCol="0" anchor="t"/>
          <a:lstStyle/>
          <a:p>
            <a:pPr indent="0" marL="0">
              <a:buNone/>
            </a:pPr>
            <a:r>
              <a:rPr lang="en-US" sz="1400" dirty="0">
                <a:solidFill>
                  <a:schemeClr val="tx2"/>
                </a:solidFill>
              </a:rPr>
              <a:t>Everything from today on one page</a:t>
            </a:r>
            <a:endParaRPr lang="en-US" sz="1400" dirty="0"/>
          </a:p>
        </p:txBody>
      </p:sp>
      <p:sp>
        <p:nvSpPr>
          <p:cNvPr id="8" name="Office hours"/>
          <p:cNvSpPr/>
          <p:nvPr/>
        </p:nvSpPr>
        <p:spPr>
          <a:xfrm>
            <a:off x="3291840" y="1280160"/>
            <a:ext cx="2560320" cy="274320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8000"/>
              </a:srgbClr>
            </a:outerShdw>
          </a:effectLst>
        </p:spPr>
      </p:sp>
      <p:sp>
        <p:nvSpPr>
          <p:cNvPr id="9" name="Office hours circle"/>
          <p:cNvSpPr/>
          <p:nvPr/>
        </p:nvSpPr>
        <p:spPr>
          <a:xfrm>
            <a:off x="3566160" y="1600200"/>
            <a:ext cx="685800" cy="685800"/>
          </a:xfrm>
          <a:prstGeom prst="ellipse">
            <a:avLst/>
          </a:prstGeom>
          <a:solidFill>
            <a:schemeClr val="accent1"/>
          </a:solidFill>
          <a:ln w="12700">
            <a:solidFill>
              <a:schemeClr val="accent1"/>
            </a:solidFill>
            <a:prstDash val="solid"/>
          </a:ln>
        </p:spPr>
      </p:sp>
      <p:pic>
        <p:nvPicPr>
          <p:cNvPr id="10" name="Office hours" descr="preencoded.png">    </p:cNvPr>
          <p:cNvPicPr>
            <a:picLocks noChangeAspect="1"/>
          </p:cNvPicPr>
          <p:nvPr/>
        </p:nvPicPr>
        <p:blipFill>
          <a:blip r:embed="rId2"/>
          <a:stretch>
            <a:fillRect/>
          </a:stretch>
        </p:blipFill>
        <p:spPr>
          <a:xfrm>
            <a:off x="3751326" y="1785366"/>
            <a:ext cx="315468" cy="315468"/>
          </a:xfrm>
          <a:prstGeom prst="rect">
            <a:avLst/>
          </a:prstGeom>
        </p:spPr>
      </p:pic>
      <p:sp>
        <p:nvSpPr>
          <p:cNvPr id="11" name="Text 7"/>
          <p:cNvSpPr txBox="1"/>
          <p:nvPr/>
        </p:nvSpPr>
        <p:spPr>
          <a:xfrm>
            <a:off x="3566160" y="2514600"/>
            <a:ext cx="2057400" cy="411480"/>
          </a:xfrm>
          <a:prstGeom prst="rect">
            <a:avLst/>
          </a:prstGeom>
          <a:noFill/>
          <a:ln/>
        </p:spPr>
        <p:txBody>
          <a:bodyPr wrap="square" lIns="0" tIns="0" rIns="0" bIns="0" rtlCol="0" anchor="t"/>
          <a:lstStyle/>
          <a:p>
            <a:pPr indent="0" marL="0">
              <a:buNone/>
            </a:pPr>
            <a:r>
              <a:rPr lang="en-US" sz="2000" b="1" dirty="0">
                <a:solidFill>
                  <a:schemeClr val="tx1"/>
                </a:solidFill>
                <a:latin typeface="Georgia" pitchFamily="34" charset="0"/>
                <a:ea typeface="Georgia" pitchFamily="34" charset="-122"/>
                <a:cs typeface="Georgia" pitchFamily="34" charset="-120"/>
              </a:rPr>
              <a:t>Office hours</a:t>
            </a:r>
            <a:endParaRPr lang="en-US" sz="2000" dirty="0"/>
          </a:p>
        </p:txBody>
      </p:sp>
      <p:sp>
        <p:nvSpPr>
          <p:cNvPr id="12" name="Text 8"/>
          <p:cNvSpPr txBox="1"/>
          <p:nvPr/>
        </p:nvSpPr>
        <p:spPr>
          <a:xfrm>
            <a:off x="3566160" y="3017520"/>
            <a:ext cx="2057400" cy="731520"/>
          </a:xfrm>
          <a:prstGeom prst="rect">
            <a:avLst/>
          </a:prstGeom>
          <a:noFill/>
          <a:ln/>
        </p:spPr>
        <p:txBody>
          <a:bodyPr wrap="square" lIns="0" tIns="0" rIns="0" bIns="0" rtlCol="0" anchor="t"/>
          <a:lstStyle/>
          <a:p>
            <a:pPr indent="0" marL="0">
              <a:buNone/>
            </a:pPr>
            <a:r>
              <a:rPr lang="en-US" sz="1400" dirty="0">
                <a:solidFill>
                  <a:schemeClr val="tx2"/>
                </a:solidFill>
              </a:rPr>
              <a:t>A weekly drop-in with an engineer</a:t>
            </a:r>
            <a:endParaRPr lang="en-US" sz="1400" dirty="0"/>
          </a:p>
        </p:txBody>
      </p:sp>
      <p:sp>
        <p:nvSpPr>
          <p:cNvPr id="13" name="This week"/>
          <p:cNvSpPr/>
          <p:nvPr/>
        </p:nvSpPr>
        <p:spPr>
          <a:xfrm>
            <a:off x="6035040" y="1280160"/>
            <a:ext cx="2560320" cy="2743200"/>
          </a:xfrm>
          <a:prstGeom prst="roundRect">
            <a:avLst>
              <a:gd name="adj" fmla="val 2857"/>
            </a:avLst>
          </a:prstGeom>
          <a:solidFill>
            <a:schemeClr val="tx1"/>
          </a:solidFill>
          <a:ln w="12700">
            <a:solidFill>
              <a:schemeClr val="tx1"/>
            </a:solidFill>
            <a:prstDash val="solid"/>
          </a:ln>
          <a:effectLst>
            <a:outerShdw sx="100000" sy="100000" kx="0" ky="0" algn="bl" rotWithShape="0" blurRad="76200" dist="25400" dir="5400000">
              <a:srgbClr val="000000">
                <a:alpha val="8000"/>
              </a:srgbClr>
            </a:outerShdw>
          </a:effectLst>
        </p:spPr>
      </p:sp>
      <p:sp>
        <p:nvSpPr>
          <p:cNvPr id="14" name="This week circle"/>
          <p:cNvSpPr/>
          <p:nvPr/>
        </p:nvSpPr>
        <p:spPr>
          <a:xfrm>
            <a:off x="6309360" y="1600200"/>
            <a:ext cx="685800" cy="685800"/>
          </a:xfrm>
          <a:prstGeom prst="ellipse">
            <a:avLst/>
          </a:prstGeom>
          <a:solidFill>
            <a:schemeClr val="accent1"/>
          </a:solidFill>
          <a:ln w="12700">
            <a:solidFill>
              <a:schemeClr val="accent1"/>
            </a:solidFill>
            <a:prstDash val="solid"/>
          </a:ln>
        </p:spPr>
      </p:sp>
      <p:pic>
        <p:nvPicPr>
          <p:cNvPr id="15" name="This week" descr="preencoded.png">    </p:cNvPr>
          <p:cNvPicPr>
            <a:picLocks noChangeAspect="1"/>
          </p:cNvPicPr>
          <p:nvPr/>
        </p:nvPicPr>
        <p:blipFill>
          <a:blip r:embed="rId3"/>
          <a:stretch>
            <a:fillRect/>
          </a:stretch>
        </p:blipFill>
        <p:spPr>
          <a:xfrm>
            <a:off x="6494526" y="1785366"/>
            <a:ext cx="315468" cy="315468"/>
          </a:xfrm>
          <a:prstGeom prst="rect">
            <a:avLst/>
          </a:prstGeom>
        </p:spPr>
      </p:pic>
      <p:sp>
        <p:nvSpPr>
          <p:cNvPr id="16" name="Text 11"/>
          <p:cNvSpPr txBox="1"/>
          <p:nvPr/>
        </p:nvSpPr>
        <p:spPr>
          <a:xfrm>
            <a:off x="6309360" y="2514600"/>
            <a:ext cx="2057400" cy="411480"/>
          </a:xfrm>
          <a:prstGeom prst="rect">
            <a:avLst/>
          </a:prstGeom>
          <a:noFill/>
          <a:ln/>
        </p:spPr>
        <p:txBody>
          <a:bodyPr wrap="square" lIns="0" tIns="0" rIns="0" bIns="0" rtlCol="0" anchor="t"/>
          <a:lstStyle/>
          <a:p>
            <a:pPr indent="0" marL="0">
              <a:buNone/>
            </a:pPr>
            <a:r>
              <a:rPr lang="en-US" sz="2000" b="1" dirty="0">
                <a:solidFill>
                  <a:schemeClr val="bg2"/>
                </a:solidFill>
                <a:latin typeface="Georgia" pitchFamily="34" charset="0"/>
                <a:ea typeface="Georgia" pitchFamily="34" charset="-122"/>
                <a:cs typeface="Georgia" pitchFamily="34" charset="-120"/>
              </a:rPr>
              <a:t>This week</a:t>
            </a:r>
            <a:endParaRPr lang="en-US" sz="2000" dirty="0"/>
          </a:p>
        </p:txBody>
      </p:sp>
      <p:sp>
        <p:nvSpPr>
          <p:cNvPr id="17" name="Text 12"/>
          <p:cNvSpPr txBox="1"/>
          <p:nvPr/>
        </p:nvSpPr>
        <p:spPr>
          <a:xfrm>
            <a:off x="6309360" y="3017520"/>
            <a:ext cx="2057400" cy="731520"/>
          </a:xfrm>
          <a:prstGeom prst="rect">
            <a:avLst/>
          </a:prstGeom>
          <a:noFill/>
          <a:ln/>
        </p:spPr>
        <p:txBody>
          <a:bodyPr wrap="square" lIns="0" tIns="0" rIns="0" bIns="0" rtlCol="0" anchor="t"/>
          <a:lstStyle/>
          <a:p>
            <a:pPr indent="0" marL="0">
              <a:buNone/>
            </a:pPr>
            <a:r>
              <a:rPr lang="en-US" sz="1400" dirty="0">
                <a:solidFill>
                  <a:schemeClr val="accent3"/>
                </a:solidFill>
              </a:rPr>
              <a:t>Send your first change for approval</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ovenant Training">
  <a:themeElements>
    <a:clrScheme name="Covenant Training">
      <a:dk1>
        <a:srgbClr val="1F1E1D"/>
      </a:dk1>
      <a:lt1>
        <a:srgbClr val="FFFFFF"/>
      </a:lt1>
      <a:dk2>
        <a:srgbClr val="4A4640"/>
      </a:dk2>
      <a:lt2>
        <a:srgbClr val="FAF9F5"/>
      </a:lt2>
      <a:accent1>
        <a:srgbClr val="C96442"/>
      </a:accent1>
      <a:accent2>
        <a:srgbClr val="4F8A5B"/>
      </a:accent2>
      <a:accent3>
        <a:srgbClr val="8A857C"/>
      </a:accent3>
      <a:accent4>
        <a:srgbClr val="F0ECE2"/>
      </a:accent4>
      <a:accent5>
        <a:srgbClr val="E3DED2"/>
      </a:accent5>
      <a:accent6>
        <a:srgbClr val="5B7A99"/>
      </a:accent6>
      <a:hlink>
        <a:srgbClr val="C96442"/>
      </a:hlink>
      <a:folHlink>
        <a:srgbClr val="8A857C"/>
      </a:folHlink>
    </a:clrScheme>
    <a:fontScheme name="Covenant Training">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Covenant screens</dc:title>
  <dc:subject>PptxGenJS Presentation</dc:subject>
  <dc:creator>Fernhill Credit Partners</dc:creator>
  <cp:lastModifiedBy>Fernhill Credit Partners</cp:lastModifiedBy>
  <cp:revision>1</cp:revision>
  <dcterms:created xsi:type="dcterms:W3CDTF">2026-10-30T14:49:47Z</dcterms:created>
  <dcterms:modified xsi:type="dcterms:W3CDTF">2026-10-30T14:49:47Z</dcterms:modified>
</cp:coreProperties>
</file>